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embeddedFontLst>
    <p:embeddedFont>
      <p:font typeface="Unbounded Bold" panose="020B0604020202020204" charset="0"/>
      <p:regular r:id="rId1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9" d="100"/>
          <a:sy n="79" d="100"/>
        </p:scale>
        <p:origin x="848"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8823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6F5EE"/>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D6F5EE"/>
          </a:solidFill>
          <a:ln/>
        </p:spPr>
      </p:sp>
      <p:pic>
        <p:nvPicPr>
          <p:cNvPr id="3" name="Image 0" descr="preencoded.png"/>
          <p:cNvPicPr>
            <a:picLocks noChangeAspect="1"/>
          </p:cNvPicPr>
          <p:nvPr/>
        </p:nvPicPr>
        <p:blipFill>
          <a:blip r:embed="rId3"/>
          <a:stretch>
            <a:fillRect/>
          </a:stretch>
        </p:blipFill>
        <p:spPr>
          <a:xfrm>
            <a:off x="70842" y="380181"/>
            <a:ext cx="3287241" cy="4383063"/>
          </a:xfrm>
          <a:prstGeom prst="rect">
            <a:avLst/>
          </a:prstGeom>
        </p:spPr>
      </p:pic>
      <p:sp>
        <p:nvSpPr>
          <p:cNvPr id="4" name="Text 1"/>
          <p:cNvSpPr/>
          <p:nvPr/>
        </p:nvSpPr>
        <p:spPr>
          <a:xfrm>
            <a:off x="582627" y="126863"/>
            <a:ext cx="8490532" cy="1328961"/>
          </a:xfrm>
          <a:prstGeom prst="rect">
            <a:avLst/>
          </a:prstGeom>
          <a:noFill/>
          <a:ln/>
        </p:spPr>
        <p:txBody>
          <a:bodyPr wrap="square" lIns="0" tIns="0" rIns="0" bIns="0" rtlCol="0" anchor="t">
            <a:normAutofit/>
          </a:bodyPr>
          <a:lstStyle/>
          <a:p>
            <a:pPr marL="0" indent="0" algn="ctr">
              <a:lnSpc>
                <a:spcPct val="104000"/>
              </a:lnSpc>
              <a:buNone/>
            </a:pPr>
            <a:r>
              <a:rPr lang="en-US" sz="2000" b="1" dirty="0">
                <a:latin typeface="Times New Roman" panose="02020603050405020304" pitchFamily="18" charset="0"/>
                <a:ea typeface="Unbounded Bold" pitchFamily="34" charset="-122"/>
                <a:cs typeface="Times New Roman" panose="02020603050405020304" pitchFamily="18" charset="0"/>
              </a:rPr>
              <a:t>QUẢN LÝ DỮ LIỆU KIỂM THỬ CHO</a:t>
            </a:r>
            <a:r>
              <a:rPr lang="vi-VN" sz="2000" b="1" dirty="0">
                <a:latin typeface="Times New Roman" panose="02020603050405020304" pitchFamily="18" charset="0"/>
                <a:ea typeface="Unbounded Bold" pitchFamily="34" charset="-122"/>
                <a:cs typeface="Times New Roman" panose="02020603050405020304" pitchFamily="18" charset="0"/>
              </a:rPr>
              <a:t> </a:t>
            </a:r>
            <a:r>
              <a:rPr lang="en-US" sz="2000" b="1" dirty="0">
                <a:latin typeface="Times New Roman" panose="02020603050405020304" pitchFamily="18" charset="0"/>
                <a:ea typeface="Unbounded Bold" pitchFamily="34" charset="-122"/>
                <a:cs typeface="Times New Roman" panose="02020603050405020304" pitchFamily="18" charset="0"/>
              </a:rPr>
              <a:t>ỨNG DỤNG CƠ SỞ DỮ LIỆU</a:t>
            </a:r>
            <a:endParaRPr lang="en-US" sz="2000" dirty="0">
              <a:latin typeface="Times New Roman" panose="02020603050405020304" pitchFamily="18" charset="0"/>
              <a:cs typeface="Times New Roman" panose="02020603050405020304" pitchFamily="18" charset="0"/>
            </a:endParaRPr>
          </a:p>
        </p:txBody>
      </p:sp>
      <p:sp>
        <p:nvSpPr>
          <p:cNvPr id="5" name="Text 2"/>
          <p:cNvSpPr/>
          <p:nvPr/>
        </p:nvSpPr>
        <p:spPr>
          <a:xfrm>
            <a:off x="3625713" y="1034952"/>
            <a:ext cx="5591115" cy="1544909"/>
          </a:xfrm>
          <a:prstGeom prst="rect">
            <a:avLst/>
          </a:prstGeom>
          <a:noFill/>
          <a:ln/>
        </p:spPr>
        <p:txBody>
          <a:bodyPr wrap="square" lIns="0" tIns="0" rIns="0" bIns="0" rtlCol="0" anchor="t">
            <a:noAutofit/>
          </a:bodyPr>
          <a:lstStyle/>
          <a:p>
            <a:pPr marL="0" indent="0" algn="l">
              <a:lnSpc>
                <a:spcPct val="133000"/>
              </a:lnSpc>
              <a:buNone/>
            </a:pPr>
            <a:r>
              <a:rPr lang="vi-VN" b="1"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b="1" dirty="0">
                <a:solidFill>
                  <a:srgbClr val="333F70"/>
                </a:solidFill>
                <a:latin typeface="Times New Roman" panose="02020603050405020304" pitchFamily="18" charset="0"/>
                <a:ea typeface="Open Sans" pitchFamily="34" charset="-122"/>
                <a:cs typeface="Times New Roman" panose="02020603050405020304" pitchFamily="18" charset="0"/>
              </a:rPr>
              <a:t>Sinh viên thực hiện:</a:t>
            </a:r>
            <a:r>
              <a:rPr lang="en-US" dirty="0">
                <a:solidFill>
                  <a:srgbClr val="333F70"/>
                </a:solidFill>
                <a:latin typeface="Times New Roman" panose="02020603050405020304" pitchFamily="18" charset="0"/>
                <a:ea typeface="Open Sans" pitchFamily="34" charset="-122"/>
                <a:cs typeface="Times New Roman" panose="02020603050405020304" pitchFamily="18" charset="0"/>
              </a:rPr>
              <a:t> Ngô </a:t>
            </a:r>
            <a:r>
              <a:rPr lang="en-US" dirty="0" err="1">
                <a:solidFill>
                  <a:srgbClr val="333F70"/>
                </a:solidFill>
                <a:latin typeface="Times New Roman" panose="02020603050405020304" pitchFamily="18" charset="0"/>
                <a:ea typeface="Open Sans" pitchFamily="34" charset="-122"/>
                <a:cs typeface="Times New Roman" panose="02020603050405020304" pitchFamily="18" charset="0"/>
              </a:rPr>
              <a:t>thị</a:t>
            </a:r>
            <a:r>
              <a:rPr lang="en-US"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dirty="0" err="1">
                <a:solidFill>
                  <a:srgbClr val="333F70"/>
                </a:solidFill>
                <a:latin typeface="Times New Roman" panose="02020603050405020304" pitchFamily="18" charset="0"/>
                <a:ea typeface="Open Sans" pitchFamily="34" charset="-122"/>
                <a:cs typeface="Times New Roman" panose="02020603050405020304" pitchFamily="18" charset="0"/>
              </a:rPr>
              <a:t>Hiền</a:t>
            </a:r>
            <a:r>
              <a:rPr lang="en-US"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b="1" dirty="0">
                <a:solidFill>
                  <a:srgbClr val="333F70"/>
                </a:solidFill>
                <a:latin typeface="Times New Roman" panose="02020603050405020304" pitchFamily="18" charset="0"/>
                <a:ea typeface="Open Sans" pitchFamily="34" charset="-122"/>
                <a:cs typeface="Times New Roman" panose="02020603050405020304" pitchFamily="18" charset="0"/>
              </a:rPr>
              <a:t>Lớp:</a:t>
            </a:r>
            <a:r>
              <a:rPr lang="en-US" dirty="0">
                <a:solidFill>
                  <a:srgbClr val="333F70"/>
                </a:solidFill>
                <a:latin typeface="Times New Roman" panose="02020603050405020304" pitchFamily="18" charset="0"/>
                <a:ea typeface="Open Sans" pitchFamily="34" charset="-122"/>
                <a:cs typeface="Times New Roman" panose="02020603050405020304" pitchFamily="18" charset="0"/>
              </a:rPr>
              <a:t> K58 KTPM </a:t>
            </a:r>
            <a:endParaRPr lang="vi-VN" dirty="0">
              <a:solidFill>
                <a:srgbClr val="333F70"/>
              </a:solidFill>
              <a:latin typeface="Times New Roman" panose="02020603050405020304" pitchFamily="18" charset="0"/>
              <a:ea typeface="Open Sans" pitchFamily="34" charset="-122"/>
              <a:cs typeface="Times New Roman" panose="02020603050405020304" pitchFamily="18" charset="0"/>
            </a:endParaRPr>
          </a:p>
          <a:p>
            <a:pPr marL="0" indent="0" algn="l">
              <a:lnSpc>
                <a:spcPct val="133000"/>
              </a:lnSpc>
              <a:buNone/>
            </a:pPr>
            <a:r>
              <a:rPr lang="en-US"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b="1" dirty="0">
                <a:solidFill>
                  <a:srgbClr val="333F70"/>
                </a:solidFill>
                <a:latin typeface="Times New Roman" panose="02020603050405020304" pitchFamily="18" charset="0"/>
                <a:ea typeface="Open Sans" pitchFamily="34" charset="-122"/>
                <a:cs typeface="Times New Roman" panose="02020603050405020304" pitchFamily="18" charset="0"/>
              </a:rPr>
              <a:t>Môn:</a:t>
            </a:r>
            <a:r>
              <a:rPr lang="en-US" dirty="0">
                <a:solidFill>
                  <a:srgbClr val="333F70"/>
                </a:solidFill>
                <a:latin typeface="Times New Roman" panose="02020603050405020304" pitchFamily="18" charset="0"/>
                <a:ea typeface="Open Sans" pitchFamily="34" charset="-122"/>
                <a:cs typeface="Times New Roman" panose="02020603050405020304" pitchFamily="18" charset="0"/>
              </a:rPr>
              <a:t> Đảm bảo chất lượng và Kiểm thử </a:t>
            </a:r>
            <a:r>
              <a:rPr lang="en-US" dirty="0" err="1">
                <a:solidFill>
                  <a:srgbClr val="333F70"/>
                </a:solidFill>
                <a:latin typeface="Times New Roman" panose="02020603050405020304" pitchFamily="18" charset="0"/>
                <a:ea typeface="Open Sans" pitchFamily="34" charset="-122"/>
                <a:cs typeface="Times New Roman" panose="02020603050405020304" pitchFamily="18" charset="0"/>
              </a:rPr>
              <a:t>phần</a:t>
            </a:r>
            <a:r>
              <a:rPr lang="en-US" dirty="0">
                <a:solidFill>
                  <a:srgbClr val="333F70"/>
                </a:solidFill>
                <a:latin typeface="Times New Roman" panose="02020603050405020304" pitchFamily="18" charset="0"/>
                <a:ea typeface="Open Sans" pitchFamily="34" charset="-122"/>
                <a:cs typeface="Times New Roman" panose="02020603050405020304" pitchFamily="18" charset="0"/>
              </a:rPr>
              <a:t> </a:t>
            </a:r>
            <a:r>
              <a:rPr lang="en-US" dirty="0" err="1">
                <a:solidFill>
                  <a:srgbClr val="333F70"/>
                </a:solidFill>
                <a:latin typeface="Times New Roman" panose="02020603050405020304" pitchFamily="18" charset="0"/>
                <a:ea typeface="Open Sans" pitchFamily="34" charset="-122"/>
                <a:cs typeface="Times New Roman" panose="02020603050405020304" pitchFamily="18" charset="0"/>
              </a:rPr>
              <a:t>mềm</a:t>
            </a:r>
            <a:endParaRPr lang="vi-VN" dirty="0">
              <a:solidFill>
                <a:srgbClr val="333F70"/>
              </a:solidFill>
              <a:latin typeface="Times New Roman" panose="02020603050405020304" pitchFamily="18" charset="0"/>
              <a:ea typeface="Open Sans" pitchFamily="34" charset="-122"/>
              <a:cs typeface="Times New Roman" panose="02020603050405020304" pitchFamily="18" charset="0"/>
            </a:endParaRPr>
          </a:p>
          <a:p>
            <a:pPr marL="0" indent="0" algn="l">
              <a:lnSpc>
                <a:spcPct val="133000"/>
              </a:lnSpc>
              <a:buNone/>
            </a:pPr>
            <a:r>
              <a:rPr lang="vi-VN" b="1" dirty="0">
                <a:latin typeface="Times New Roman" panose="02020603050405020304" pitchFamily="18" charset="0"/>
                <a:ea typeface="Open Sans" pitchFamily="34" charset="-122"/>
                <a:cs typeface="Times New Roman" panose="02020603050405020304" pitchFamily="18" charset="0"/>
              </a:rPr>
              <a:t> Giáo viên hướng dẫn </a:t>
            </a:r>
            <a:r>
              <a:rPr lang="vi-VN" dirty="0">
                <a:solidFill>
                  <a:srgbClr val="333F70"/>
                </a:solidFill>
                <a:latin typeface="Times New Roman" panose="02020603050405020304" pitchFamily="18" charset="0"/>
                <a:ea typeface="Open Sans" pitchFamily="34" charset="-122"/>
                <a:cs typeface="Times New Roman" panose="02020603050405020304" pitchFamily="18" charset="0"/>
              </a:rPr>
              <a:t>: Thầy Nguyễn Tuấn Linh</a:t>
            </a:r>
            <a:endParaRPr lang="en-US" dirty="0">
              <a:latin typeface="Times New Roman" panose="02020603050405020304" pitchFamily="18" charset="0"/>
              <a:cs typeface="Times New Roman" panose="02020603050405020304" pitchFamily="18" charset="0"/>
            </a:endParaRPr>
          </a:p>
        </p:txBody>
      </p:sp>
      <p:sp>
        <p:nvSpPr>
          <p:cNvPr id="6" name="Text 3"/>
          <p:cNvSpPr/>
          <p:nvPr/>
        </p:nvSpPr>
        <p:spPr>
          <a:xfrm>
            <a:off x="3740432" y="2718924"/>
            <a:ext cx="2413909" cy="294994"/>
          </a:xfrm>
          <a:prstGeom prst="rect">
            <a:avLst/>
          </a:prstGeom>
          <a:noFill/>
          <a:ln/>
        </p:spPr>
        <p:txBody>
          <a:bodyPr wrap="none" lIns="0" tIns="0" rIns="0" bIns="0" rtlCol="0" anchor="t"/>
          <a:lstStyle/>
          <a:p>
            <a:pPr marL="0" indent="0" algn="l">
              <a:lnSpc>
                <a:spcPct val="104000"/>
              </a:lnSpc>
              <a:buNone/>
            </a:pPr>
            <a:r>
              <a:rPr lang="en-US" sz="2000" b="1" dirty="0">
                <a:solidFill>
                  <a:srgbClr val="333F70"/>
                </a:solidFill>
                <a:latin typeface="Times New Roman" panose="02020603050405020304" pitchFamily="18" charset="0"/>
                <a:ea typeface="Unbounded Bold" pitchFamily="34" charset="-122"/>
                <a:cs typeface="Times New Roman" panose="02020603050405020304" pitchFamily="18" charset="0"/>
              </a:rPr>
              <a:t>Nội dung chính</a:t>
            </a:r>
            <a:endParaRPr lang="en-US" sz="2000" dirty="0">
              <a:latin typeface="Times New Roman" panose="02020603050405020304" pitchFamily="18" charset="0"/>
              <a:cs typeface="Times New Roman" panose="02020603050405020304" pitchFamily="18" charset="0"/>
            </a:endParaRPr>
          </a:p>
        </p:txBody>
      </p:sp>
      <p:sp>
        <p:nvSpPr>
          <p:cNvPr id="7" name="Text 4"/>
          <p:cNvSpPr/>
          <p:nvPr/>
        </p:nvSpPr>
        <p:spPr>
          <a:xfrm>
            <a:off x="3811349" y="3013919"/>
            <a:ext cx="4836533" cy="1544910"/>
          </a:xfrm>
          <a:prstGeom prst="rect">
            <a:avLst/>
          </a:prstGeom>
          <a:noFill/>
          <a:ln/>
        </p:spPr>
        <p:txBody>
          <a:bodyPr wrap="square" lIns="0" tIns="0" rIns="0" bIns="0" rtlCol="0" anchor="t">
            <a:noAutofit/>
          </a:bodyPr>
          <a:lstStyle/>
          <a:p>
            <a:pPr marL="342900" indent="-342900" algn="l">
              <a:lnSpc>
                <a:spcPct val="133000"/>
              </a:lnSpc>
              <a:buSzPct val="100000"/>
              <a:buFont typeface="+mj-lt"/>
              <a:buAutoNum type="arabicPeriod"/>
            </a:pPr>
            <a:r>
              <a:rPr lang="en-US" dirty="0">
                <a:solidFill>
                  <a:srgbClr val="333F70"/>
                </a:solidFill>
                <a:latin typeface="Times New Roman" panose="02020603050405020304" pitchFamily="18" charset="0"/>
                <a:ea typeface="Open Sans" pitchFamily="34" charset="-122"/>
                <a:cs typeface="Times New Roman" panose="02020603050405020304" pitchFamily="18" charset="0"/>
              </a:rPr>
              <a:t>Seed Data</a:t>
            </a:r>
            <a:endParaRPr lang="en-US" dirty="0">
              <a:latin typeface="Times New Roman" panose="02020603050405020304" pitchFamily="18" charset="0"/>
              <a:cs typeface="Times New Roman" panose="02020603050405020304" pitchFamily="18" charset="0"/>
            </a:endParaRPr>
          </a:p>
          <a:p>
            <a:pPr marL="342900" indent="-342900" algn="l">
              <a:lnSpc>
                <a:spcPct val="133000"/>
              </a:lnSpc>
              <a:buSzPct val="100000"/>
              <a:buFont typeface="+mj-lt"/>
              <a:buAutoNum type="arabicPeriod" startAt="2"/>
            </a:pPr>
            <a:r>
              <a:rPr lang="en-US" dirty="0">
                <a:solidFill>
                  <a:srgbClr val="333F70"/>
                </a:solidFill>
                <a:latin typeface="Times New Roman" panose="02020603050405020304" pitchFamily="18" charset="0"/>
                <a:ea typeface="Open Sans" pitchFamily="34" charset="-122"/>
                <a:cs typeface="Times New Roman" panose="02020603050405020304" pitchFamily="18" charset="0"/>
              </a:rPr>
              <a:t>Synthetic User</a:t>
            </a:r>
            <a:endParaRPr lang="en-US" dirty="0">
              <a:latin typeface="Times New Roman" panose="02020603050405020304" pitchFamily="18" charset="0"/>
              <a:cs typeface="Times New Roman" panose="02020603050405020304" pitchFamily="18" charset="0"/>
            </a:endParaRPr>
          </a:p>
          <a:p>
            <a:pPr marL="342900" indent="-342900" algn="l">
              <a:lnSpc>
                <a:spcPct val="133000"/>
              </a:lnSpc>
              <a:buSzPct val="100000"/>
              <a:buFont typeface="+mj-lt"/>
              <a:buAutoNum type="arabicPeriod" startAt="3"/>
            </a:pPr>
            <a:r>
              <a:rPr lang="en-US" dirty="0">
                <a:solidFill>
                  <a:srgbClr val="333F70"/>
                </a:solidFill>
                <a:latin typeface="Times New Roman" panose="02020603050405020304" pitchFamily="18" charset="0"/>
                <a:ea typeface="Open Sans" pitchFamily="34" charset="-122"/>
                <a:cs typeface="Times New Roman" panose="02020603050405020304" pitchFamily="18" charset="0"/>
              </a:rPr>
              <a:t>Refresh dữ liệu kiểm thử</a:t>
            </a:r>
            <a:endParaRPr lang="en-US" dirty="0">
              <a:latin typeface="Times New Roman" panose="02020603050405020304" pitchFamily="18" charset="0"/>
              <a:cs typeface="Times New Roman" panose="02020603050405020304" pitchFamily="18" charset="0"/>
            </a:endParaRPr>
          </a:p>
          <a:p>
            <a:pPr marL="342900" indent="-342900" algn="l">
              <a:lnSpc>
                <a:spcPct val="133000"/>
              </a:lnSpc>
              <a:buSzPct val="100000"/>
              <a:buFont typeface="+mj-lt"/>
              <a:buAutoNum type="arabicPeriod" startAt="4"/>
            </a:pPr>
            <a:r>
              <a:rPr lang="en-US" dirty="0">
                <a:solidFill>
                  <a:srgbClr val="333F70"/>
                </a:solidFill>
                <a:latin typeface="Times New Roman" panose="02020603050405020304" pitchFamily="18" charset="0"/>
                <a:ea typeface="Open Sans" pitchFamily="34" charset="-122"/>
                <a:cs typeface="Times New Roman" panose="02020603050405020304" pitchFamily="18" charset="0"/>
              </a:rPr>
              <a:t>Bảo vệ dữ liệu cá nhân</a:t>
            </a:r>
            <a:endParaRPr lang="en-US" dirty="0">
              <a:latin typeface="Times New Roman" panose="02020603050405020304" pitchFamily="18" charset="0"/>
              <a:cs typeface="Times New Roman" panose="02020603050405020304" pitchFamily="18" charset="0"/>
            </a:endParaRPr>
          </a:p>
          <a:p>
            <a:pPr marL="342900" indent="-342900" algn="l">
              <a:lnSpc>
                <a:spcPct val="133000"/>
              </a:lnSpc>
              <a:buSzPct val="100000"/>
              <a:buFont typeface="+mj-lt"/>
              <a:buAutoNum type="arabicPeriod" startAt="5"/>
            </a:pPr>
            <a:r>
              <a:rPr lang="en-US" dirty="0">
                <a:solidFill>
                  <a:srgbClr val="333F70"/>
                </a:solidFill>
                <a:latin typeface="Times New Roman" panose="02020603050405020304" pitchFamily="18" charset="0"/>
                <a:ea typeface="Open Sans" pitchFamily="34" charset="-122"/>
                <a:cs typeface="Times New Roman" panose="02020603050405020304" pitchFamily="18" charset="0"/>
              </a:rPr>
              <a:t>Chiến lược quản lý dữ liệu kiểm thử tổng thể</a:t>
            </a:r>
            <a:endParaRPr lang="en-US"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AAFB72AA-15FC-0281-B2DB-7E2D9EA76BE7}"/>
              </a:ext>
            </a:extLst>
          </p:cNvPr>
          <p:cNvPicPr>
            <a:picLocks noChangeAspect="1"/>
          </p:cNvPicPr>
          <p:nvPr/>
        </p:nvPicPr>
        <p:blipFill>
          <a:blip r:embed="rId4"/>
          <a:stretch>
            <a:fillRect/>
          </a:stretch>
        </p:blipFill>
        <p:spPr>
          <a:xfrm>
            <a:off x="8051575" y="4817751"/>
            <a:ext cx="1021584" cy="32413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4" name="Text 1"/>
          <p:cNvSpPr/>
          <p:nvPr/>
        </p:nvSpPr>
        <p:spPr>
          <a:xfrm>
            <a:off x="194209" y="97105"/>
            <a:ext cx="4633329" cy="513686"/>
          </a:xfrm>
          <a:prstGeom prst="rect">
            <a:avLst/>
          </a:prstGeom>
          <a:noFill/>
          <a:ln/>
        </p:spPr>
        <p:txBody>
          <a:bodyPr wrap="none" lIns="0" tIns="0" rIns="0" bIns="0" rtlCol="0" anchor="t"/>
          <a:lstStyle/>
          <a:p>
            <a:pPr marL="0" indent="0" algn="l">
              <a:lnSpc>
                <a:spcPct val="104000"/>
              </a:lnSpc>
              <a:buNone/>
            </a:pPr>
            <a:r>
              <a:rPr lang="en-US" sz="2750" b="1" dirty="0">
                <a:solidFill>
                  <a:srgbClr val="333F70"/>
                </a:solidFill>
                <a:latin typeface="Times New Roman" panose="02020603050405020304" pitchFamily="18" charset="0"/>
                <a:ea typeface="Unbounded Bold" pitchFamily="34" charset="-122"/>
                <a:cs typeface="Times New Roman" panose="02020603050405020304" pitchFamily="18" charset="0"/>
              </a:rPr>
              <a:t>Lý Do Chọn Đề Tài</a:t>
            </a:r>
            <a:endParaRPr lang="en-US" sz="2750" dirty="0">
              <a:latin typeface="Times New Roman" panose="02020603050405020304" pitchFamily="18" charset="0"/>
              <a:cs typeface="Times New Roman" panose="02020603050405020304" pitchFamily="18" charset="0"/>
            </a:endParaRPr>
          </a:p>
        </p:txBody>
      </p:sp>
      <p:pic>
        <p:nvPicPr>
          <p:cNvPr id="5"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22154" y="1078111"/>
            <a:ext cx="6229500" cy="2391891"/>
          </a:xfrm>
          <a:prstGeom prst="rect">
            <a:avLst/>
          </a:prstGeom>
        </p:spPr>
      </p:pic>
      <p:sp>
        <p:nvSpPr>
          <p:cNvPr id="6" name="Text 2"/>
          <p:cNvSpPr/>
          <p:nvPr/>
        </p:nvSpPr>
        <p:spPr>
          <a:xfrm>
            <a:off x="422154" y="771600"/>
            <a:ext cx="2063945" cy="716160"/>
          </a:xfrm>
          <a:prstGeom prst="rect">
            <a:avLst/>
          </a:prstGeom>
          <a:noFill/>
          <a:ln/>
        </p:spPr>
        <p:txBody>
          <a:bodyPr wrap="none" lIns="0" tIns="0" rIns="0" bIns="0" rtlCol="0" anchor="t"/>
          <a:lstStyle/>
          <a:p>
            <a:pPr marL="0" indent="0" algn="l">
              <a:lnSpc>
                <a:spcPct val="104000"/>
              </a:lnSpc>
              <a:buNone/>
            </a:pPr>
            <a:r>
              <a:rPr lang="en-US" sz="2000" b="1" dirty="0">
                <a:solidFill>
                  <a:srgbClr val="333F70"/>
                </a:solidFill>
                <a:latin typeface="Times New Roman" panose="02020603050405020304" pitchFamily="18" charset="0"/>
                <a:ea typeface="Unbounded Bold" pitchFamily="34" charset="-122"/>
                <a:cs typeface="Times New Roman" panose="02020603050405020304" pitchFamily="18" charset="0"/>
              </a:rPr>
              <a:t>Vấn đề đặt ra</a:t>
            </a:r>
            <a:endParaRPr lang="en-US" sz="2000" dirty="0">
              <a:latin typeface="Times New Roman" panose="02020603050405020304" pitchFamily="18" charset="0"/>
              <a:cs typeface="Times New Roman" panose="02020603050405020304" pitchFamily="18" charset="0"/>
            </a:endParaRPr>
          </a:p>
        </p:txBody>
      </p:sp>
      <p:sp>
        <p:nvSpPr>
          <p:cNvPr id="7" name="Text 3"/>
          <p:cNvSpPr/>
          <p:nvPr/>
        </p:nvSpPr>
        <p:spPr>
          <a:xfrm>
            <a:off x="550258" y="1221897"/>
            <a:ext cx="5996199" cy="2087297"/>
          </a:xfrm>
          <a:prstGeom prst="rect">
            <a:avLst/>
          </a:prstGeom>
          <a:noFill/>
          <a:ln/>
        </p:spPr>
        <p:txBody>
          <a:bodyPr wrap="square" lIns="0" tIns="0" rIns="0" bIns="0" rtlCol="0" anchor="t">
            <a:noAutofit/>
          </a:bodyPr>
          <a:lstStyle/>
          <a:p>
            <a:pPr marL="342900" indent="-342900" algn="l">
              <a:lnSpc>
                <a:spcPct val="133000"/>
              </a:lnSpc>
              <a:buSzPct val="100000"/>
              <a:buChar char="•"/>
            </a:pPr>
            <a:r>
              <a:rPr lang="en-US" sz="1500" dirty="0">
                <a:latin typeface="Times New Roman" panose="02020603050405020304" pitchFamily="18" charset="0"/>
                <a:ea typeface="Open Sans" pitchFamily="34" charset="-122"/>
                <a:cs typeface="Times New Roman" panose="02020603050405020304" pitchFamily="18" charset="0"/>
              </a:rPr>
              <a:t>Ứng dụng cơ sở dữ liệu phụ thuộc nhiều vào dữ liệu kiểm thử.</a:t>
            </a:r>
            <a:endParaRPr lang="en-US" sz="1500" dirty="0">
              <a:latin typeface="Times New Roman" panose="02020603050405020304" pitchFamily="18" charset="0"/>
              <a:cs typeface="Times New Roman" panose="02020603050405020304" pitchFamily="18" charset="0"/>
            </a:endParaRPr>
          </a:p>
          <a:p>
            <a:pPr marL="342900" indent="-342900" algn="l">
              <a:lnSpc>
                <a:spcPct val="133000"/>
              </a:lnSpc>
              <a:buSzPct val="100000"/>
              <a:buChar char="•"/>
            </a:pPr>
            <a:r>
              <a:rPr lang="en-US" sz="1500" dirty="0">
                <a:latin typeface="Times New Roman" panose="02020603050405020304" pitchFamily="18" charset="0"/>
                <a:ea typeface="Open Sans" pitchFamily="34" charset="-122"/>
                <a:cs typeface="Times New Roman" panose="02020603050405020304" pitchFamily="18" charset="0"/>
              </a:rPr>
              <a:t>Nếu dữ liệu kiểm thử thiếu, sai hoặc không nhất quán thì kết quả kiểm thử không chính xác.</a:t>
            </a:r>
            <a:endParaRPr lang="en-US" sz="1500" dirty="0">
              <a:latin typeface="Times New Roman" panose="02020603050405020304" pitchFamily="18" charset="0"/>
              <a:cs typeface="Times New Roman" panose="02020603050405020304" pitchFamily="18" charset="0"/>
            </a:endParaRPr>
          </a:p>
          <a:p>
            <a:pPr marL="342900" indent="-342900" algn="l">
              <a:lnSpc>
                <a:spcPct val="133000"/>
              </a:lnSpc>
              <a:buSzPct val="100000"/>
              <a:buChar char="•"/>
            </a:pPr>
            <a:r>
              <a:rPr lang="en-US" sz="1500" dirty="0">
                <a:latin typeface="Times New Roman" panose="02020603050405020304" pitchFamily="18" charset="0"/>
                <a:ea typeface="Open Sans" pitchFamily="34" charset="-122"/>
                <a:cs typeface="Times New Roman" panose="02020603050405020304" pitchFamily="18" charset="0"/>
              </a:rPr>
              <a:t>Dữ liệu production thường chứa thông tin nhạy cảm như email, số điện thoại, CCCD.</a:t>
            </a:r>
            <a:endParaRPr lang="en-US" sz="1500" dirty="0">
              <a:latin typeface="Times New Roman" panose="02020603050405020304" pitchFamily="18" charset="0"/>
              <a:cs typeface="Times New Roman" panose="02020603050405020304" pitchFamily="18" charset="0"/>
            </a:endParaRPr>
          </a:p>
          <a:p>
            <a:pPr marL="342900" indent="-342900" algn="l">
              <a:lnSpc>
                <a:spcPct val="133000"/>
              </a:lnSpc>
              <a:buSzPct val="100000"/>
              <a:buChar char="•"/>
            </a:pPr>
            <a:r>
              <a:rPr lang="en-US" sz="1500" dirty="0">
                <a:latin typeface="Times New Roman" panose="02020603050405020304" pitchFamily="18" charset="0"/>
                <a:ea typeface="Open Sans" pitchFamily="34" charset="-122"/>
                <a:cs typeface="Times New Roman" panose="02020603050405020304" pitchFamily="18" charset="0"/>
              </a:rPr>
              <a:t>Cần có chiến lược quản lý dữ liệu kiểm thử an toàn, tái lập được và phù hợp với QA.</a:t>
            </a:r>
            <a:endParaRPr lang="en-US" sz="1500" dirty="0">
              <a:latin typeface="Times New Roman" panose="02020603050405020304" pitchFamily="18" charset="0"/>
              <a:cs typeface="Times New Roman" panose="02020603050405020304" pitchFamily="18" charset="0"/>
            </a:endParaRPr>
          </a:p>
        </p:txBody>
      </p:sp>
      <p:pic>
        <p:nvPicPr>
          <p:cNvPr id="8"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7069" y="3611761"/>
            <a:ext cx="4741813" cy="1081757"/>
          </a:xfrm>
          <a:prstGeom prst="rect">
            <a:avLst/>
          </a:prstGeom>
        </p:spPr>
      </p:pic>
      <p:sp>
        <p:nvSpPr>
          <p:cNvPr id="9" name="Text 4"/>
          <p:cNvSpPr/>
          <p:nvPr/>
        </p:nvSpPr>
        <p:spPr>
          <a:xfrm>
            <a:off x="631179" y="3611761"/>
            <a:ext cx="1854920" cy="382265"/>
          </a:xfrm>
          <a:prstGeom prst="rect">
            <a:avLst/>
          </a:prstGeom>
          <a:noFill/>
          <a:ln/>
        </p:spPr>
        <p:txBody>
          <a:bodyPr wrap="none" lIns="0" tIns="0" rIns="0" bIns="0" rtlCol="0" anchor="t"/>
          <a:lstStyle/>
          <a:p>
            <a:pPr marL="0" indent="0" algn="l">
              <a:lnSpc>
                <a:spcPct val="104000"/>
              </a:lnSpc>
              <a:buNone/>
            </a:pPr>
            <a:r>
              <a:rPr lang="en-US" sz="1350" b="1" dirty="0">
                <a:latin typeface="Times New Roman" panose="02020603050405020304" pitchFamily="18" charset="0"/>
                <a:ea typeface="Unbounded Bold" pitchFamily="34" charset="-122"/>
                <a:cs typeface="Times New Roman" panose="02020603050405020304" pitchFamily="18" charset="0"/>
              </a:rPr>
              <a:t>MỤC TIÊU</a:t>
            </a:r>
            <a:endParaRPr lang="en-US" sz="1350" dirty="0">
              <a:latin typeface="Times New Roman" panose="02020603050405020304" pitchFamily="18" charset="0"/>
              <a:cs typeface="Times New Roman" panose="02020603050405020304" pitchFamily="18" charset="0"/>
            </a:endParaRPr>
          </a:p>
        </p:txBody>
      </p:sp>
      <p:sp>
        <p:nvSpPr>
          <p:cNvPr id="10" name="Text 5"/>
          <p:cNvSpPr/>
          <p:nvPr/>
        </p:nvSpPr>
        <p:spPr>
          <a:xfrm>
            <a:off x="631179" y="3921603"/>
            <a:ext cx="4426893" cy="611106"/>
          </a:xfrm>
          <a:prstGeom prst="rect">
            <a:avLst/>
          </a:prstGeom>
          <a:noFill/>
          <a:ln/>
        </p:spPr>
        <p:txBody>
          <a:bodyPr wrap="square" lIns="0" tIns="0" rIns="0" bIns="0" rtlCol="0" anchor="t">
            <a:noAutofit/>
          </a:bodyPr>
          <a:lstStyle/>
          <a:p>
            <a:pPr marL="0" indent="0" algn="l">
              <a:lnSpc>
                <a:spcPct val="133000"/>
              </a:lnSpc>
              <a:buNone/>
            </a:pPr>
            <a:r>
              <a:rPr lang="en-US" sz="1500" dirty="0">
                <a:latin typeface="Times New Roman" panose="02020603050405020304" pitchFamily="18" charset="0"/>
                <a:ea typeface="Open Sans" pitchFamily="34" charset="-122"/>
                <a:cs typeface="Times New Roman" panose="02020603050405020304" pitchFamily="18" charset="0"/>
              </a:rPr>
              <a:t>Đề xuất chiến lược quản lý dữ liệu kiểm thử gồm </a:t>
            </a:r>
            <a:r>
              <a:rPr lang="en-US" sz="1500" b="1" dirty="0">
                <a:latin typeface="Times New Roman" panose="02020603050405020304" pitchFamily="18" charset="0"/>
                <a:ea typeface="Open Sans" pitchFamily="34" charset="-122"/>
                <a:cs typeface="Times New Roman" panose="02020603050405020304" pitchFamily="18" charset="0"/>
              </a:rPr>
              <a:t>Seed Data</a:t>
            </a:r>
            <a:r>
              <a:rPr lang="en-US" sz="1500" dirty="0">
                <a:latin typeface="Times New Roman" panose="02020603050405020304" pitchFamily="18" charset="0"/>
                <a:ea typeface="Open Sans" pitchFamily="34" charset="-122"/>
                <a:cs typeface="Times New Roman" panose="02020603050405020304" pitchFamily="18" charset="0"/>
              </a:rPr>
              <a:t>, </a:t>
            </a:r>
            <a:r>
              <a:rPr lang="en-US" sz="1500" b="1" dirty="0">
                <a:latin typeface="Times New Roman" panose="02020603050405020304" pitchFamily="18" charset="0"/>
                <a:ea typeface="Open Sans" pitchFamily="34" charset="-122"/>
                <a:cs typeface="Times New Roman" panose="02020603050405020304" pitchFamily="18" charset="0"/>
              </a:rPr>
              <a:t>Synthetic User</a:t>
            </a:r>
            <a:r>
              <a:rPr lang="en-US" sz="1500" dirty="0">
                <a:latin typeface="Times New Roman" panose="02020603050405020304" pitchFamily="18" charset="0"/>
                <a:ea typeface="Open Sans" pitchFamily="34" charset="-122"/>
                <a:cs typeface="Times New Roman" panose="02020603050405020304" pitchFamily="18" charset="0"/>
              </a:rPr>
              <a:t>, </a:t>
            </a:r>
            <a:r>
              <a:rPr lang="en-US" sz="1500" b="1" dirty="0">
                <a:latin typeface="Times New Roman" panose="02020603050405020304" pitchFamily="18" charset="0"/>
                <a:ea typeface="Open Sans" pitchFamily="34" charset="-122"/>
                <a:cs typeface="Times New Roman" panose="02020603050405020304" pitchFamily="18" charset="0"/>
              </a:rPr>
              <a:t>Refresh Data</a:t>
            </a:r>
            <a:r>
              <a:rPr lang="en-US" sz="1500" dirty="0">
                <a:latin typeface="Times New Roman" panose="02020603050405020304" pitchFamily="18" charset="0"/>
                <a:ea typeface="Open Sans" pitchFamily="34" charset="-122"/>
                <a:cs typeface="Times New Roman" panose="02020603050405020304" pitchFamily="18" charset="0"/>
              </a:rPr>
              <a:t> và </a:t>
            </a:r>
            <a:r>
              <a:rPr lang="en-US" sz="1500" b="1" dirty="0">
                <a:latin typeface="Times New Roman" panose="02020603050405020304" pitchFamily="18" charset="0"/>
                <a:ea typeface="Open Sans" pitchFamily="34" charset="-122"/>
                <a:cs typeface="Times New Roman" panose="02020603050405020304" pitchFamily="18" charset="0"/>
              </a:rPr>
              <a:t>Data Masking</a:t>
            </a:r>
            <a:r>
              <a:rPr lang="en-US" sz="1500" dirty="0">
                <a:latin typeface="Times New Roman" panose="02020603050405020304" pitchFamily="18" charset="0"/>
                <a:ea typeface="Open Sans" pitchFamily="34" charset="-122"/>
                <a:cs typeface="Times New Roman" panose="02020603050405020304" pitchFamily="18" charset="0"/>
              </a:rPr>
              <a:t>.</a:t>
            </a:r>
            <a:endParaRPr lang="en-US" sz="1500"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8A40F06F-92F1-BCCE-15A9-A19EBA165564}"/>
              </a:ext>
            </a:extLst>
          </p:cNvPr>
          <p:cNvPicPr>
            <a:picLocks noChangeAspect="1"/>
          </p:cNvPicPr>
          <p:nvPr/>
        </p:nvPicPr>
        <p:blipFill>
          <a:blip r:embed="rId5"/>
          <a:stretch>
            <a:fillRect/>
          </a:stretch>
        </p:blipFill>
        <p:spPr>
          <a:xfrm>
            <a:off x="7941292" y="4835068"/>
            <a:ext cx="1143059" cy="247663"/>
          </a:xfrm>
          <a:prstGeom prst="rect">
            <a:avLst/>
          </a:prstGeom>
        </p:spPr>
      </p:pic>
      <p:pic>
        <p:nvPicPr>
          <p:cNvPr id="15" name="Image 0">
            <a:extLst>
              <a:ext uri="{FF2B5EF4-FFF2-40B4-BE49-F238E27FC236}">
                <a16:creationId xmlns:a16="http://schemas.microsoft.com/office/drawing/2014/main" id="{816E2F12-5B49-ECA5-ADC1-99C18185174B}"/>
              </a:ext>
            </a:extLst>
          </p:cNvPr>
          <p:cNvPicPr>
            <a:picLocks noChangeAspect="1"/>
          </p:cNvPicPr>
          <p:nvPr/>
        </p:nvPicPr>
        <p:blipFill>
          <a:blip r:embed="rId6"/>
          <a:stretch>
            <a:fillRect/>
          </a:stretch>
        </p:blipFill>
        <p:spPr>
          <a:xfrm>
            <a:off x="6076182" y="1873857"/>
            <a:ext cx="3287241" cy="4383063"/>
          </a:xfrm>
          <a:prstGeom prst="rect">
            <a:avLst/>
          </a:prstGeom>
          <a:ln>
            <a:noFill/>
          </a:ln>
          <a:effectLst>
            <a:softEdge rad="112500"/>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289174" y="303310"/>
            <a:ext cx="4630083" cy="375347"/>
          </a:xfrm>
          <a:prstGeom prst="rect">
            <a:avLst/>
          </a:prstGeom>
          <a:noFill/>
          <a:ln/>
        </p:spPr>
        <p:txBody>
          <a:bodyPr wrap="none" lIns="0" tIns="0" rIns="0" bIns="0" rtlCol="0" anchor="t"/>
          <a:lstStyle/>
          <a:p>
            <a:pPr marL="0" indent="0" algn="l">
              <a:lnSpc>
                <a:spcPct val="104000"/>
              </a:lnSpc>
              <a:buNone/>
            </a:pPr>
            <a:r>
              <a:rPr lang="en-US" sz="1500" b="1" dirty="0">
                <a:latin typeface="Times New Roman" panose="02020603050405020304" pitchFamily="18" charset="0"/>
                <a:ea typeface="Unbounded Bold" pitchFamily="34" charset="-122"/>
                <a:cs typeface="Times New Roman" panose="02020603050405020304" pitchFamily="18" charset="0"/>
              </a:rPr>
              <a:t>CƠ SỞ LÝ THUYẾT</a:t>
            </a:r>
            <a:endParaRPr lang="en-US" sz="1500" dirty="0">
              <a:latin typeface="Times New Roman" panose="02020603050405020304" pitchFamily="18" charset="0"/>
              <a:cs typeface="Times New Roman" panose="02020603050405020304" pitchFamily="18" charset="0"/>
            </a:endParaRPr>
          </a:p>
        </p:txBody>
      </p:sp>
      <p:pic>
        <p:nvPicPr>
          <p:cNvPr id="3" name="Image 0" descr="preencoded.png"/>
          <p:cNvPicPr>
            <a:picLocks noChangeAspect="1"/>
          </p:cNvPicPr>
          <p:nvPr/>
        </p:nvPicPr>
        <p:blipFill>
          <a:blip r:embed="rId3"/>
          <a:stretch>
            <a:fillRect/>
          </a:stretch>
        </p:blipFill>
        <p:spPr>
          <a:xfrm>
            <a:off x="0" y="569043"/>
            <a:ext cx="2152481" cy="1999283"/>
          </a:xfrm>
          <a:prstGeom prst="rect">
            <a:avLst/>
          </a:prstGeom>
        </p:spPr>
      </p:pic>
      <p:sp>
        <p:nvSpPr>
          <p:cNvPr id="4" name="Text 1"/>
          <p:cNvSpPr/>
          <p:nvPr/>
        </p:nvSpPr>
        <p:spPr>
          <a:xfrm>
            <a:off x="2662280" y="734021"/>
            <a:ext cx="3783580" cy="919013"/>
          </a:xfrm>
          <a:prstGeom prst="rect">
            <a:avLst/>
          </a:prstGeom>
          <a:noFill/>
          <a:ln/>
        </p:spPr>
        <p:txBody>
          <a:bodyPr wrap="none" lIns="0" tIns="0" rIns="0" bIns="0" rtlCol="0" anchor="t"/>
          <a:lstStyle/>
          <a:p>
            <a:pPr marL="0" indent="0" algn="l">
              <a:lnSpc>
                <a:spcPct val="104000"/>
              </a:lnSpc>
              <a:buNone/>
            </a:pPr>
            <a:r>
              <a:rPr lang="en-US" sz="2000" b="1" dirty="0">
                <a:latin typeface="Times New Roman" panose="02020603050405020304" pitchFamily="18" charset="0"/>
                <a:ea typeface="Unbounded Bold" pitchFamily="34" charset="-122"/>
                <a:cs typeface="Times New Roman" panose="02020603050405020304" pitchFamily="18" charset="0"/>
              </a:rPr>
              <a:t>Test Data Management</a:t>
            </a:r>
            <a:endParaRPr lang="en-US" sz="2000" dirty="0">
              <a:latin typeface="Times New Roman" panose="02020603050405020304" pitchFamily="18" charset="0"/>
              <a:cs typeface="Times New Roman" panose="02020603050405020304" pitchFamily="18" charset="0"/>
            </a:endParaRPr>
          </a:p>
        </p:txBody>
      </p:sp>
      <p:sp>
        <p:nvSpPr>
          <p:cNvPr id="5" name="Text 2"/>
          <p:cNvSpPr/>
          <p:nvPr/>
        </p:nvSpPr>
        <p:spPr>
          <a:xfrm>
            <a:off x="2791752" y="1058170"/>
            <a:ext cx="5170811" cy="880614"/>
          </a:xfrm>
          <a:prstGeom prst="rect">
            <a:avLst/>
          </a:prstGeom>
          <a:noFill/>
          <a:ln/>
        </p:spPr>
        <p:txBody>
          <a:bodyPr wrap="square" lIns="0" tIns="0" rIns="0" bIns="0" rtlCol="0" anchor="t">
            <a:noAutofit/>
          </a:bodyPr>
          <a:lstStyle/>
          <a:p>
            <a:pPr marL="0" indent="0" algn="l">
              <a:lnSpc>
                <a:spcPct val="108000"/>
              </a:lnSpc>
              <a:buNone/>
            </a:pPr>
            <a:r>
              <a:rPr lang="en-US" sz="1500" dirty="0">
                <a:latin typeface="Times New Roman" panose="02020603050405020304" pitchFamily="18" charset="0"/>
                <a:ea typeface="Open Sans" pitchFamily="34" charset="-122"/>
                <a:cs typeface="Times New Roman" panose="02020603050405020304" pitchFamily="18" charset="0"/>
              </a:rPr>
              <a:t>Test Data Management là quá trình tạo, quản lý, </a:t>
            </a:r>
            <a:endParaRPr lang="vi-VN" sz="1500" dirty="0">
              <a:latin typeface="Times New Roman" panose="02020603050405020304" pitchFamily="18" charset="0"/>
              <a:ea typeface="Open Sans" pitchFamily="34" charset="-122"/>
              <a:cs typeface="Times New Roman" panose="02020603050405020304" pitchFamily="18" charset="0"/>
            </a:endParaRPr>
          </a:p>
          <a:p>
            <a:pPr marL="0" indent="0" algn="l">
              <a:lnSpc>
                <a:spcPct val="108000"/>
              </a:lnSpc>
              <a:buNone/>
            </a:pPr>
            <a:r>
              <a:rPr lang="en-US" sz="1500" dirty="0" err="1">
                <a:latin typeface="Times New Roman" panose="02020603050405020304" pitchFamily="18" charset="0"/>
                <a:ea typeface="Open Sans" pitchFamily="34" charset="-122"/>
                <a:cs typeface="Times New Roman" panose="02020603050405020304" pitchFamily="18" charset="0"/>
              </a:rPr>
              <a:t>làm</a:t>
            </a:r>
            <a:r>
              <a:rPr lang="en-US" sz="1500" dirty="0">
                <a:latin typeface="Times New Roman" panose="02020603050405020304" pitchFamily="18" charset="0"/>
                <a:ea typeface="Open Sans" pitchFamily="34" charset="-122"/>
                <a:cs typeface="Times New Roman" panose="02020603050405020304" pitchFamily="18" charset="0"/>
              </a:rPr>
              <a:t> mới và bảo vệ dữ liệu phục vụ kiểm thử phần mềm.</a:t>
            </a:r>
            <a:endParaRPr lang="en-US" sz="1500" dirty="0">
              <a:latin typeface="Times New Roman" panose="02020603050405020304" pitchFamily="18" charset="0"/>
              <a:cs typeface="Times New Roman" panose="02020603050405020304" pitchFamily="18" charset="0"/>
            </a:endParaRPr>
          </a:p>
        </p:txBody>
      </p:sp>
      <p:sp>
        <p:nvSpPr>
          <p:cNvPr id="6" name="Text 3"/>
          <p:cNvSpPr/>
          <p:nvPr/>
        </p:nvSpPr>
        <p:spPr>
          <a:xfrm>
            <a:off x="365599" y="2541460"/>
            <a:ext cx="2224269" cy="271390"/>
          </a:xfrm>
          <a:prstGeom prst="rect">
            <a:avLst/>
          </a:prstGeom>
          <a:noFill/>
          <a:ln/>
        </p:spPr>
        <p:txBody>
          <a:bodyPr wrap="none" lIns="0" tIns="0" rIns="0" bIns="0" rtlCol="0" anchor="t"/>
          <a:lstStyle/>
          <a:p>
            <a:pPr marL="0" indent="0" algn="l">
              <a:lnSpc>
                <a:spcPct val="104000"/>
              </a:lnSpc>
              <a:buNone/>
            </a:pPr>
            <a:r>
              <a:rPr lang="en-US" sz="2000" b="1" dirty="0">
                <a:latin typeface="Times New Roman" panose="02020603050405020304" pitchFamily="18" charset="0"/>
                <a:ea typeface="Unbounded Bold" pitchFamily="34" charset="-122"/>
                <a:cs typeface="Times New Roman" panose="02020603050405020304" pitchFamily="18" charset="0"/>
              </a:rPr>
              <a:t>Các nội dung chính</a:t>
            </a:r>
            <a:endParaRPr lang="en-US" sz="2000" dirty="0">
              <a:latin typeface="Times New Roman" panose="02020603050405020304" pitchFamily="18" charset="0"/>
              <a:cs typeface="Times New Roman" panose="02020603050405020304" pitchFamily="18" charset="0"/>
            </a:endParaRPr>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48333" y="2952192"/>
            <a:ext cx="157854" cy="132904"/>
          </a:xfrm>
          <a:prstGeom prst="rect">
            <a:avLst/>
          </a:prstGeom>
        </p:spPr>
      </p:pic>
      <p:sp>
        <p:nvSpPr>
          <p:cNvPr id="8" name="Text 4"/>
          <p:cNvSpPr/>
          <p:nvPr/>
        </p:nvSpPr>
        <p:spPr>
          <a:xfrm>
            <a:off x="1803053" y="2947839"/>
            <a:ext cx="6919495" cy="115193"/>
          </a:xfrm>
          <a:prstGeom prst="rect">
            <a:avLst/>
          </a:prstGeom>
          <a:noFill/>
          <a:ln/>
        </p:spPr>
        <p:txBody>
          <a:bodyPr wrap="none" lIns="0" tIns="0" rIns="0" bIns="0" rtlCol="0" anchor="t"/>
          <a:lstStyle/>
          <a:p>
            <a:pPr marL="0" indent="0" algn="l">
              <a:lnSpc>
                <a:spcPct val="108000"/>
              </a:lnSpc>
              <a:buNone/>
            </a:pPr>
            <a:r>
              <a:rPr lang="en-US" sz="1500" b="1" dirty="0">
                <a:latin typeface="Times New Roman" panose="02020603050405020304" pitchFamily="18" charset="0"/>
                <a:ea typeface="Open Sans" pitchFamily="34" charset="-122"/>
                <a:cs typeface="Times New Roman" panose="02020603050405020304" pitchFamily="18" charset="0"/>
              </a:rPr>
              <a:t>Seed Data:</a:t>
            </a:r>
            <a:r>
              <a:rPr lang="en-US" sz="1500" dirty="0">
                <a:latin typeface="Times New Roman" panose="02020603050405020304" pitchFamily="18" charset="0"/>
                <a:ea typeface="Open Sans" pitchFamily="34" charset="-122"/>
                <a:cs typeface="Times New Roman" panose="02020603050405020304" pitchFamily="18" charset="0"/>
              </a:rPr>
              <a:t> dữ liệu nền cố định cho môi trường test.</a:t>
            </a:r>
            <a:endParaRPr lang="en-US" sz="1500" dirty="0">
              <a:latin typeface="Times New Roman" panose="02020603050405020304" pitchFamily="18" charset="0"/>
              <a:cs typeface="Times New Roman" panose="02020603050405020304" pitchFamily="18" charset="0"/>
            </a:endParaRPr>
          </a:p>
        </p:txBody>
      </p:sp>
      <p:pic>
        <p:nvPicPr>
          <p:cNvPr id="9"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48333" y="3333117"/>
            <a:ext cx="157854" cy="132904"/>
          </a:xfrm>
          <a:prstGeom prst="rect">
            <a:avLst/>
          </a:prstGeom>
        </p:spPr>
      </p:pic>
      <p:sp>
        <p:nvSpPr>
          <p:cNvPr id="10" name="Text 5"/>
          <p:cNvSpPr/>
          <p:nvPr/>
        </p:nvSpPr>
        <p:spPr>
          <a:xfrm>
            <a:off x="1803053" y="3328764"/>
            <a:ext cx="6919495" cy="115193"/>
          </a:xfrm>
          <a:prstGeom prst="rect">
            <a:avLst/>
          </a:prstGeom>
          <a:noFill/>
          <a:ln/>
        </p:spPr>
        <p:txBody>
          <a:bodyPr wrap="none" lIns="0" tIns="0" rIns="0" bIns="0" rtlCol="0" anchor="t"/>
          <a:lstStyle/>
          <a:p>
            <a:pPr marL="0" indent="0" algn="l">
              <a:lnSpc>
                <a:spcPct val="108000"/>
              </a:lnSpc>
              <a:buNone/>
            </a:pPr>
            <a:r>
              <a:rPr lang="en-US" sz="1500" b="1" dirty="0">
                <a:latin typeface="Times New Roman" panose="02020603050405020304" pitchFamily="18" charset="0"/>
                <a:ea typeface="Open Sans" pitchFamily="34" charset="-122"/>
                <a:cs typeface="Times New Roman" panose="02020603050405020304" pitchFamily="18" charset="0"/>
              </a:rPr>
              <a:t>Synthetic User:</a:t>
            </a:r>
            <a:r>
              <a:rPr lang="en-US" sz="1500" dirty="0">
                <a:latin typeface="Times New Roman" panose="02020603050405020304" pitchFamily="18" charset="0"/>
                <a:ea typeface="Open Sans" pitchFamily="34" charset="-122"/>
                <a:cs typeface="Times New Roman" panose="02020603050405020304" pitchFamily="18" charset="0"/>
              </a:rPr>
              <a:t> người dùng giả lập, không dùng dữ liệu thật.</a:t>
            </a:r>
            <a:endParaRPr lang="en-US" sz="1500" dirty="0">
              <a:latin typeface="Times New Roman" panose="02020603050405020304" pitchFamily="18" charset="0"/>
              <a:cs typeface="Times New Roman" panose="02020603050405020304" pitchFamily="18" charset="0"/>
            </a:endParaRPr>
          </a:p>
        </p:txBody>
      </p:sp>
      <p:pic>
        <p:nvPicPr>
          <p:cNvPr id="11"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48333" y="3714043"/>
            <a:ext cx="157854" cy="132904"/>
          </a:xfrm>
          <a:prstGeom prst="rect">
            <a:avLst/>
          </a:prstGeom>
        </p:spPr>
      </p:pic>
      <p:sp>
        <p:nvSpPr>
          <p:cNvPr id="12" name="Text 6"/>
          <p:cNvSpPr/>
          <p:nvPr/>
        </p:nvSpPr>
        <p:spPr>
          <a:xfrm>
            <a:off x="1803053" y="3709690"/>
            <a:ext cx="6919495" cy="115193"/>
          </a:xfrm>
          <a:prstGeom prst="rect">
            <a:avLst/>
          </a:prstGeom>
          <a:noFill/>
          <a:ln/>
        </p:spPr>
        <p:txBody>
          <a:bodyPr wrap="none" lIns="0" tIns="0" rIns="0" bIns="0" rtlCol="0" anchor="t"/>
          <a:lstStyle/>
          <a:p>
            <a:pPr marL="0" indent="0" algn="l">
              <a:lnSpc>
                <a:spcPct val="108000"/>
              </a:lnSpc>
              <a:buNone/>
            </a:pPr>
            <a:r>
              <a:rPr lang="en-US" sz="1500" b="1" dirty="0">
                <a:latin typeface="Times New Roman" panose="02020603050405020304" pitchFamily="18" charset="0"/>
                <a:ea typeface="Open Sans" pitchFamily="34" charset="-122"/>
                <a:cs typeface="Times New Roman" panose="02020603050405020304" pitchFamily="18" charset="0"/>
              </a:rPr>
              <a:t>Refresh Data:</a:t>
            </a:r>
            <a:r>
              <a:rPr lang="en-US" sz="1500" dirty="0">
                <a:latin typeface="Times New Roman" panose="02020603050405020304" pitchFamily="18" charset="0"/>
                <a:ea typeface="Open Sans" pitchFamily="34" charset="-122"/>
                <a:cs typeface="Times New Roman" panose="02020603050405020304" pitchFamily="18" charset="0"/>
              </a:rPr>
              <a:t> làm mới dữ liệu kiểm thử.</a:t>
            </a:r>
            <a:endParaRPr lang="en-US" sz="1500" dirty="0">
              <a:latin typeface="Times New Roman" panose="02020603050405020304" pitchFamily="18" charset="0"/>
              <a:cs typeface="Times New Roman" panose="02020603050405020304" pitchFamily="18" charset="0"/>
            </a:endParaRPr>
          </a:p>
        </p:txBody>
      </p:sp>
      <p:pic>
        <p:nvPicPr>
          <p:cNvPr id="13"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48333" y="4094969"/>
            <a:ext cx="157854" cy="132904"/>
          </a:xfrm>
          <a:prstGeom prst="rect">
            <a:avLst/>
          </a:prstGeom>
        </p:spPr>
      </p:pic>
      <p:sp>
        <p:nvSpPr>
          <p:cNvPr id="14" name="Text 7"/>
          <p:cNvSpPr/>
          <p:nvPr/>
        </p:nvSpPr>
        <p:spPr>
          <a:xfrm>
            <a:off x="1803053" y="4090615"/>
            <a:ext cx="6919495" cy="115193"/>
          </a:xfrm>
          <a:prstGeom prst="rect">
            <a:avLst/>
          </a:prstGeom>
          <a:noFill/>
          <a:ln/>
        </p:spPr>
        <p:txBody>
          <a:bodyPr wrap="none" lIns="0" tIns="0" rIns="0" bIns="0" rtlCol="0" anchor="t"/>
          <a:lstStyle/>
          <a:p>
            <a:pPr marL="0" indent="0" algn="l">
              <a:lnSpc>
                <a:spcPct val="108000"/>
              </a:lnSpc>
              <a:buNone/>
            </a:pPr>
            <a:r>
              <a:rPr lang="en-US" sz="1500" b="1" dirty="0">
                <a:latin typeface="Times New Roman" panose="02020603050405020304" pitchFamily="18" charset="0"/>
                <a:ea typeface="Open Sans" pitchFamily="34" charset="-122"/>
                <a:cs typeface="Times New Roman" panose="02020603050405020304" pitchFamily="18" charset="0"/>
              </a:rPr>
              <a:t>Data Masking:</a:t>
            </a:r>
            <a:r>
              <a:rPr lang="en-US" sz="1500" dirty="0">
                <a:latin typeface="Times New Roman" panose="02020603050405020304" pitchFamily="18" charset="0"/>
                <a:ea typeface="Open Sans" pitchFamily="34" charset="-122"/>
                <a:cs typeface="Times New Roman" panose="02020603050405020304" pitchFamily="18" charset="0"/>
              </a:rPr>
              <a:t> che giấu dữ liệu cá nhân.</a:t>
            </a:r>
            <a:endParaRPr lang="en-US" sz="1500" dirty="0">
              <a:latin typeface="Times New Roman" panose="02020603050405020304" pitchFamily="18" charset="0"/>
              <a:cs typeface="Times New Roman" panose="02020603050405020304" pitchFamily="18" charset="0"/>
            </a:endParaRPr>
          </a:p>
        </p:txBody>
      </p:sp>
      <p:pic>
        <p:nvPicPr>
          <p:cNvPr id="15" name="Image 5"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48333" y="4475894"/>
            <a:ext cx="157854" cy="132904"/>
          </a:xfrm>
          <a:prstGeom prst="rect">
            <a:avLst/>
          </a:prstGeom>
        </p:spPr>
      </p:pic>
      <p:sp>
        <p:nvSpPr>
          <p:cNvPr id="16" name="Text 8"/>
          <p:cNvSpPr/>
          <p:nvPr/>
        </p:nvSpPr>
        <p:spPr>
          <a:xfrm>
            <a:off x="1803053" y="4471541"/>
            <a:ext cx="6919495" cy="115193"/>
          </a:xfrm>
          <a:prstGeom prst="rect">
            <a:avLst/>
          </a:prstGeom>
          <a:noFill/>
          <a:ln/>
        </p:spPr>
        <p:txBody>
          <a:bodyPr wrap="none" lIns="0" tIns="0" rIns="0" bIns="0" rtlCol="0" anchor="t"/>
          <a:lstStyle/>
          <a:p>
            <a:pPr marL="0" indent="0" algn="l">
              <a:lnSpc>
                <a:spcPct val="108000"/>
              </a:lnSpc>
              <a:buNone/>
            </a:pPr>
            <a:r>
              <a:rPr lang="en-US" sz="1500" b="1" dirty="0">
                <a:latin typeface="Times New Roman" panose="02020603050405020304" pitchFamily="18" charset="0"/>
                <a:ea typeface="Open Sans" pitchFamily="34" charset="-122"/>
                <a:cs typeface="Times New Roman" panose="02020603050405020304" pitchFamily="18" charset="0"/>
              </a:rPr>
              <a:t>QA Control Points:</a:t>
            </a:r>
            <a:r>
              <a:rPr lang="en-US" sz="1500" dirty="0">
                <a:latin typeface="Times New Roman" panose="02020603050405020304" pitchFamily="18" charset="0"/>
                <a:ea typeface="Open Sans" pitchFamily="34" charset="-122"/>
                <a:cs typeface="Times New Roman" panose="02020603050405020304" pitchFamily="18" charset="0"/>
              </a:rPr>
              <a:t> các điểm QA cần kiểm soát trong từng bước.</a:t>
            </a:r>
            <a:endParaRPr lang="en-US" sz="1500"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951DBF54-A8E6-CD52-EE55-FED3889B210F}"/>
              </a:ext>
            </a:extLst>
          </p:cNvPr>
          <p:cNvPicPr>
            <a:picLocks noChangeAspect="1"/>
          </p:cNvPicPr>
          <p:nvPr/>
        </p:nvPicPr>
        <p:blipFill>
          <a:blip r:embed="rId5"/>
          <a:stretch>
            <a:fillRect/>
          </a:stretch>
        </p:blipFill>
        <p:spPr>
          <a:xfrm>
            <a:off x="8051575" y="4817751"/>
            <a:ext cx="1021584" cy="32413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4" name="Text 1"/>
          <p:cNvSpPr/>
          <p:nvPr/>
        </p:nvSpPr>
        <p:spPr>
          <a:xfrm>
            <a:off x="161898" y="125911"/>
            <a:ext cx="7376918" cy="702987"/>
          </a:xfrm>
          <a:prstGeom prst="rect">
            <a:avLst/>
          </a:prstGeom>
          <a:noFill/>
          <a:ln/>
        </p:spPr>
        <p:txBody>
          <a:bodyPr wrap="none" lIns="0" tIns="0" rIns="0" bIns="0" rtlCol="0" anchor="t"/>
          <a:lstStyle/>
          <a:p>
            <a:pPr marL="0" indent="0" algn="l">
              <a:lnSpc>
                <a:spcPct val="104000"/>
              </a:lnSpc>
              <a:buNone/>
            </a:pPr>
            <a:r>
              <a:rPr lang="en-US" sz="2400" b="1" dirty="0">
                <a:latin typeface="Times New Roman" panose="02020603050405020304" pitchFamily="18" charset="0"/>
                <a:ea typeface="Unbounded Bold" pitchFamily="34" charset="-122"/>
                <a:cs typeface="Times New Roman" panose="02020603050405020304" pitchFamily="18" charset="0"/>
              </a:rPr>
              <a:t>Seed Data</a:t>
            </a:r>
            <a:endParaRPr lang="en-US" sz="2400" dirty="0">
              <a:latin typeface="Times New Roman" panose="02020603050405020304" pitchFamily="18" charset="0"/>
              <a:cs typeface="Times New Roman" panose="02020603050405020304" pitchFamily="18" charset="0"/>
            </a:endParaRPr>
          </a:p>
        </p:txBody>
      </p:sp>
      <p:sp>
        <p:nvSpPr>
          <p:cNvPr id="5" name="Shape 2"/>
          <p:cNvSpPr/>
          <p:nvPr/>
        </p:nvSpPr>
        <p:spPr>
          <a:xfrm>
            <a:off x="161970" y="583182"/>
            <a:ext cx="2305124" cy="1430014"/>
          </a:xfrm>
          <a:prstGeom prst="roundRect">
            <a:avLst>
              <a:gd name="adj" fmla="val 3766"/>
            </a:avLst>
          </a:prstGeom>
          <a:solidFill>
            <a:srgbClr val="D6F5EE"/>
          </a:solidFill>
          <a:ln w="4763">
            <a:solidFill>
              <a:srgbClr val="BCDBD4"/>
            </a:solidFill>
            <a:prstDash val="solid"/>
          </a:ln>
        </p:spPr>
      </p:sp>
      <p:sp>
        <p:nvSpPr>
          <p:cNvPr id="6" name="Text 3"/>
          <p:cNvSpPr/>
          <p:nvPr/>
        </p:nvSpPr>
        <p:spPr>
          <a:xfrm>
            <a:off x="226577" y="693688"/>
            <a:ext cx="5407758" cy="632073"/>
          </a:xfrm>
          <a:prstGeom prst="rect">
            <a:avLst/>
          </a:prstGeom>
          <a:noFill/>
          <a:ln/>
        </p:spPr>
        <p:txBody>
          <a:bodyPr wrap="none" lIns="0" tIns="0" rIns="0" bIns="0" rtlCol="0" anchor="t"/>
          <a:lstStyle/>
          <a:p>
            <a:pPr marL="0" indent="0" algn="l">
              <a:lnSpc>
                <a:spcPct val="104000"/>
              </a:lnSpc>
              <a:buNone/>
            </a:pPr>
            <a:r>
              <a:rPr lang="en-US" sz="1500" b="1" dirty="0">
                <a:latin typeface="Times New Roman" panose="02020603050405020304" pitchFamily="18" charset="0"/>
                <a:ea typeface="Unbounded Bold" pitchFamily="34" charset="-122"/>
                <a:cs typeface="Times New Roman" panose="02020603050405020304" pitchFamily="18" charset="0"/>
              </a:rPr>
              <a:t>Mục tiêu</a:t>
            </a:r>
            <a:endParaRPr lang="en-US" sz="1500" dirty="0">
              <a:latin typeface="Times New Roman" panose="02020603050405020304" pitchFamily="18" charset="0"/>
              <a:cs typeface="Times New Roman" panose="02020603050405020304" pitchFamily="18" charset="0"/>
            </a:endParaRPr>
          </a:p>
        </p:txBody>
      </p:sp>
      <p:sp>
        <p:nvSpPr>
          <p:cNvPr id="7" name="Text 4"/>
          <p:cNvSpPr/>
          <p:nvPr/>
        </p:nvSpPr>
        <p:spPr>
          <a:xfrm>
            <a:off x="161897" y="913137"/>
            <a:ext cx="2305198" cy="1199850"/>
          </a:xfrm>
          <a:prstGeom prst="rect">
            <a:avLst/>
          </a:prstGeom>
          <a:noFill/>
          <a:ln/>
        </p:spPr>
        <p:txBody>
          <a:bodyPr wrap="square" lIns="0" tIns="0" rIns="0" bIns="0" rtlCol="0" anchor="t">
            <a:noAutofit/>
          </a:bodyPr>
          <a:lstStyle/>
          <a:p>
            <a:pPr marL="0" indent="0" algn="l">
              <a:lnSpc>
                <a:spcPct val="126000"/>
              </a:lnSpc>
              <a:buNone/>
            </a:pPr>
            <a:r>
              <a:rPr lang="en-US" sz="1500" dirty="0">
                <a:latin typeface="Times New Roman" panose="02020603050405020304" pitchFamily="18" charset="0"/>
                <a:ea typeface="Open Sans" pitchFamily="34" charset="-122"/>
                <a:cs typeface="Times New Roman" panose="02020603050405020304" pitchFamily="18" charset="0"/>
              </a:rPr>
              <a:t>Seed Data giúp tạo trạng thái ban đầu ổn định cho môi trường kiểm thử.</a:t>
            </a:r>
            <a:endParaRPr lang="en-US" sz="1500" dirty="0">
              <a:latin typeface="Times New Roman" panose="02020603050405020304" pitchFamily="18" charset="0"/>
              <a:cs typeface="Times New Roman" panose="02020603050405020304" pitchFamily="18" charset="0"/>
            </a:endParaRPr>
          </a:p>
        </p:txBody>
      </p:sp>
      <p:sp>
        <p:nvSpPr>
          <p:cNvPr id="8" name="Shape 5"/>
          <p:cNvSpPr/>
          <p:nvPr/>
        </p:nvSpPr>
        <p:spPr>
          <a:xfrm>
            <a:off x="5281184" y="3686488"/>
            <a:ext cx="2305199" cy="1408286"/>
          </a:xfrm>
          <a:prstGeom prst="roundRect">
            <a:avLst>
              <a:gd name="adj" fmla="val 3766"/>
            </a:avLst>
          </a:prstGeom>
          <a:solidFill>
            <a:srgbClr val="D6F5EE"/>
          </a:solidFill>
          <a:ln w="4763">
            <a:solidFill>
              <a:srgbClr val="BCDBD4"/>
            </a:solidFill>
            <a:prstDash val="solid"/>
          </a:ln>
        </p:spPr>
      </p:sp>
      <p:sp>
        <p:nvSpPr>
          <p:cNvPr id="9" name="Text 6"/>
          <p:cNvSpPr/>
          <p:nvPr/>
        </p:nvSpPr>
        <p:spPr>
          <a:xfrm>
            <a:off x="5397976" y="3709837"/>
            <a:ext cx="2147739" cy="496863"/>
          </a:xfrm>
          <a:prstGeom prst="rect">
            <a:avLst/>
          </a:prstGeom>
          <a:noFill/>
          <a:ln/>
        </p:spPr>
        <p:txBody>
          <a:bodyPr wrap="none" lIns="0" tIns="0" rIns="0" bIns="0" rtlCol="0" anchor="t"/>
          <a:lstStyle/>
          <a:p>
            <a:pPr marL="0" indent="0" algn="l">
              <a:lnSpc>
                <a:spcPct val="104000"/>
              </a:lnSpc>
              <a:buNone/>
            </a:pPr>
            <a:r>
              <a:rPr lang="en-US" sz="1500" b="1" dirty="0">
                <a:latin typeface="Times New Roman" panose="02020603050405020304" pitchFamily="18" charset="0"/>
                <a:ea typeface="Unbounded Bold" pitchFamily="34" charset="-122"/>
                <a:cs typeface="Times New Roman" panose="02020603050405020304" pitchFamily="18" charset="0"/>
              </a:rPr>
              <a:t>Kết quả thực nghiệm</a:t>
            </a:r>
            <a:endParaRPr lang="en-US" sz="1500" dirty="0">
              <a:latin typeface="Times New Roman" panose="02020603050405020304" pitchFamily="18" charset="0"/>
              <a:cs typeface="Times New Roman" panose="02020603050405020304" pitchFamily="18" charset="0"/>
            </a:endParaRPr>
          </a:p>
        </p:txBody>
      </p:sp>
      <p:sp>
        <p:nvSpPr>
          <p:cNvPr id="10" name="Text 7"/>
          <p:cNvSpPr/>
          <p:nvPr/>
        </p:nvSpPr>
        <p:spPr>
          <a:xfrm>
            <a:off x="5391819" y="3939865"/>
            <a:ext cx="2043261" cy="1051397"/>
          </a:xfrm>
          <a:prstGeom prst="rect">
            <a:avLst/>
          </a:prstGeom>
          <a:noFill/>
          <a:ln/>
        </p:spPr>
        <p:txBody>
          <a:bodyPr wrap="square" lIns="0" tIns="0" rIns="0" bIns="0" rtlCol="0" anchor="t">
            <a:noAutofit/>
          </a:bodyPr>
          <a:lstStyle/>
          <a:p>
            <a:pPr marL="342900" indent="-342900" algn="l">
              <a:lnSpc>
                <a:spcPct val="126000"/>
              </a:lnSpc>
              <a:buSzPct val="100000"/>
              <a:buChar char="•"/>
            </a:pPr>
            <a:r>
              <a:rPr lang="en-US" sz="1500" dirty="0">
                <a:latin typeface="Times New Roman" panose="02020603050405020304" pitchFamily="18" charset="0"/>
                <a:ea typeface="Open Sans" pitchFamily="34" charset="-122"/>
                <a:cs typeface="Times New Roman" panose="02020603050405020304" pitchFamily="18" charset="0"/>
              </a:rPr>
              <a:t>Vai trò: 3</a:t>
            </a:r>
            <a:endParaRPr lang="en-US" sz="1500" dirty="0">
              <a:latin typeface="Times New Roman" panose="02020603050405020304" pitchFamily="18" charset="0"/>
              <a:cs typeface="Times New Roman" panose="02020603050405020304" pitchFamily="18" charset="0"/>
            </a:endParaRPr>
          </a:p>
          <a:p>
            <a:pPr marL="342900" indent="-342900" algn="l">
              <a:lnSpc>
                <a:spcPct val="126000"/>
              </a:lnSpc>
              <a:buSzPct val="100000"/>
              <a:buChar char="•"/>
            </a:pPr>
            <a:r>
              <a:rPr lang="en-US" sz="1500" dirty="0">
                <a:latin typeface="Times New Roman" panose="02020603050405020304" pitchFamily="18" charset="0"/>
                <a:ea typeface="Open Sans" pitchFamily="34" charset="-122"/>
                <a:cs typeface="Times New Roman" panose="02020603050405020304" pitchFamily="18" charset="0"/>
              </a:rPr>
              <a:t>User Seed: 4</a:t>
            </a:r>
            <a:endParaRPr lang="en-US" sz="1500" dirty="0">
              <a:latin typeface="Times New Roman" panose="02020603050405020304" pitchFamily="18" charset="0"/>
              <a:cs typeface="Times New Roman" panose="02020603050405020304" pitchFamily="18" charset="0"/>
            </a:endParaRPr>
          </a:p>
          <a:p>
            <a:pPr marL="342900" indent="-342900" algn="l">
              <a:lnSpc>
                <a:spcPct val="126000"/>
              </a:lnSpc>
              <a:buSzPct val="100000"/>
              <a:buChar char="•"/>
            </a:pPr>
            <a:r>
              <a:rPr lang="en-US" sz="1500" dirty="0">
                <a:latin typeface="Times New Roman" panose="02020603050405020304" pitchFamily="18" charset="0"/>
                <a:ea typeface="Open Sans" pitchFamily="34" charset="-122"/>
                <a:cs typeface="Times New Roman" panose="02020603050405020304" pitchFamily="18" charset="0"/>
              </a:rPr>
              <a:t>Sản phẩm Seed: 4</a:t>
            </a:r>
            <a:endParaRPr lang="en-US" sz="1500" dirty="0">
              <a:latin typeface="Times New Roman" panose="02020603050405020304" pitchFamily="18" charset="0"/>
              <a:cs typeface="Times New Roman" panose="02020603050405020304" pitchFamily="18" charset="0"/>
            </a:endParaRPr>
          </a:p>
          <a:p>
            <a:pPr marL="342900" indent="-342900" algn="l">
              <a:lnSpc>
                <a:spcPct val="126000"/>
              </a:lnSpc>
              <a:buSzPct val="100000"/>
              <a:buChar char="•"/>
            </a:pPr>
            <a:r>
              <a:rPr lang="en-US" sz="1500" dirty="0">
                <a:latin typeface="Times New Roman" panose="02020603050405020304" pitchFamily="18" charset="0"/>
                <a:ea typeface="Open Sans" pitchFamily="34" charset="-122"/>
                <a:cs typeface="Times New Roman" panose="02020603050405020304" pitchFamily="18" charset="0"/>
              </a:rPr>
              <a:t>Test Case Seed: 4</a:t>
            </a:r>
            <a:endParaRPr lang="en-US" sz="1500" dirty="0">
              <a:latin typeface="Times New Roman" panose="02020603050405020304" pitchFamily="18" charset="0"/>
              <a:cs typeface="Times New Roman" panose="02020603050405020304" pitchFamily="18" charset="0"/>
            </a:endParaRPr>
          </a:p>
        </p:txBody>
      </p:sp>
      <p:sp>
        <p:nvSpPr>
          <p:cNvPr id="11" name="Shape 8"/>
          <p:cNvSpPr/>
          <p:nvPr/>
        </p:nvSpPr>
        <p:spPr>
          <a:xfrm>
            <a:off x="128769" y="2125529"/>
            <a:ext cx="3544182" cy="1576908"/>
          </a:xfrm>
          <a:prstGeom prst="roundRect">
            <a:avLst>
              <a:gd name="adj" fmla="val 4823"/>
            </a:avLst>
          </a:prstGeom>
          <a:solidFill>
            <a:srgbClr val="D6F5EE"/>
          </a:solidFill>
          <a:ln w="4763">
            <a:solidFill>
              <a:srgbClr val="BCDBD4"/>
            </a:solidFill>
            <a:prstDash val="solid"/>
          </a:ln>
        </p:spPr>
      </p:sp>
      <p:sp>
        <p:nvSpPr>
          <p:cNvPr id="12" name="Text 9"/>
          <p:cNvSpPr/>
          <p:nvPr/>
        </p:nvSpPr>
        <p:spPr>
          <a:xfrm>
            <a:off x="161970" y="2189111"/>
            <a:ext cx="5472365" cy="657376"/>
          </a:xfrm>
          <a:prstGeom prst="rect">
            <a:avLst/>
          </a:prstGeom>
          <a:noFill/>
          <a:ln/>
        </p:spPr>
        <p:txBody>
          <a:bodyPr wrap="none" lIns="0" tIns="0" rIns="0" bIns="0" rtlCol="0" anchor="t"/>
          <a:lstStyle/>
          <a:p>
            <a:pPr marL="0" indent="0" algn="l">
              <a:lnSpc>
                <a:spcPct val="104000"/>
              </a:lnSpc>
              <a:buNone/>
            </a:pPr>
            <a:r>
              <a:rPr lang="en-US" sz="1500" b="1" dirty="0">
                <a:latin typeface="Times New Roman" panose="02020603050405020304" pitchFamily="18" charset="0"/>
                <a:ea typeface="Unbounded Bold" pitchFamily="34" charset="-122"/>
                <a:cs typeface="Times New Roman" panose="02020603050405020304" pitchFamily="18" charset="0"/>
              </a:rPr>
              <a:t>Ý nghĩa</a:t>
            </a:r>
            <a:endParaRPr lang="en-US" sz="1500" dirty="0">
              <a:latin typeface="Times New Roman" panose="02020603050405020304" pitchFamily="18" charset="0"/>
              <a:cs typeface="Times New Roman" panose="02020603050405020304" pitchFamily="18" charset="0"/>
            </a:endParaRPr>
          </a:p>
        </p:txBody>
      </p:sp>
      <p:sp>
        <p:nvSpPr>
          <p:cNvPr id="13" name="Text 10"/>
          <p:cNvSpPr/>
          <p:nvPr/>
        </p:nvSpPr>
        <p:spPr>
          <a:xfrm>
            <a:off x="161971" y="2533745"/>
            <a:ext cx="3544182" cy="953002"/>
          </a:xfrm>
          <a:prstGeom prst="rect">
            <a:avLst/>
          </a:prstGeom>
          <a:noFill/>
          <a:ln/>
        </p:spPr>
        <p:txBody>
          <a:bodyPr wrap="square" lIns="0" tIns="0" rIns="0" bIns="0" rtlCol="0" anchor="t">
            <a:noAutofit/>
          </a:bodyPr>
          <a:lstStyle/>
          <a:p>
            <a:pPr marL="0" indent="0" algn="l">
              <a:lnSpc>
                <a:spcPct val="126000"/>
              </a:lnSpc>
              <a:buNone/>
            </a:pPr>
            <a:r>
              <a:rPr lang="en-US" sz="1500" dirty="0">
                <a:latin typeface="Times New Roman" panose="02020603050405020304" pitchFamily="18" charset="0"/>
                <a:ea typeface="Open Sans" pitchFamily="34" charset="-122"/>
                <a:cs typeface="Times New Roman" panose="02020603050405020304" pitchFamily="18" charset="0"/>
              </a:rPr>
              <a:t>Seed Data giúp kiểm thử có khả năng tái lập, giảm thao tác chuẩn bị dữ liệu thủ công và hỗ trợ các luồng kiểm thử cơ bản như đăng nhập, phân quyền, mua hàng.</a:t>
            </a:r>
            <a:endParaRPr lang="en-US" sz="1500" dirty="0">
              <a:latin typeface="Times New Roman" panose="02020603050405020304" pitchFamily="18" charset="0"/>
              <a:cs typeface="Times New Roman" panose="02020603050405020304" pitchFamily="18" charset="0"/>
            </a:endParaRPr>
          </a:p>
        </p:txBody>
      </p:sp>
      <p:sp>
        <p:nvSpPr>
          <p:cNvPr id="14" name="Shape 11"/>
          <p:cNvSpPr/>
          <p:nvPr/>
        </p:nvSpPr>
        <p:spPr>
          <a:xfrm>
            <a:off x="96342" y="4111367"/>
            <a:ext cx="4798095" cy="964927"/>
          </a:xfrm>
          <a:prstGeom prst="roundRect">
            <a:avLst>
              <a:gd name="adj" fmla="val 6326"/>
            </a:avLst>
          </a:prstGeom>
          <a:solidFill>
            <a:srgbClr val="C1F1E5"/>
          </a:solidFill>
          <a:ln/>
        </p:spPr>
        <p:txBody>
          <a:bodyPr/>
          <a:lstStyle/>
          <a:p>
            <a:endParaRPr lang="en-US" dirty="0"/>
          </a:p>
        </p:txBody>
      </p:sp>
      <p:pic>
        <p:nvPicPr>
          <p:cNvPr id="15" name="Image 1" descr="preencoded.png"/>
          <p:cNvPicPr>
            <a:picLocks noChangeAspect="1"/>
          </p:cNvPicPr>
          <p:nvPr/>
        </p:nvPicPr>
        <p:blipFill>
          <a:blip r:embed="rId3"/>
          <a:stretch>
            <a:fillRect/>
          </a:stretch>
        </p:blipFill>
        <p:spPr>
          <a:xfrm>
            <a:off x="226577" y="4227276"/>
            <a:ext cx="157758" cy="126206"/>
          </a:xfrm>
          <a:prstGeom prst="rect">
            <a:avLst/>
          </a:prstGeom>
        </p:spPr>
      </p:pic>
      <p:sp>
        <p:nvSpPr>
          <p:cNvPr id="16" name="Text 12"/>
          <p:cNvSpPr/>
          <p:nvPr/>
        </p:nvSpPr>
        <p:spPr>
          <a:xfrm>
            <a:off x="483089" y="4141826"/>
            <a:ext cx="4312593" cy="647477"/>
          </a:xfrm>
          <a:prstGeom prst="rect">
            <a:avLst/>
          </a:prstGeom>
          <a:noFill/>
          <a:ln/>
        </p:spPr>
        <p:txBody>
          <a:bodyPr wrap="square" lIns="0" tIns="0" rIns="0" bIns="0" rtlCol="0" anchor="t">
            <a:noAutofit/>
          </a:bodyPr>
          <a:lstStyle/>
          <a:p>
            <a:pPr marL="0" indent="0" algn="just">
              <a:lnSpc>
                <a:spcPct val="126000"/>
              </a:lnSpc>
              <a:buNone/>
            </a:pPr>
            <a:r>
              <a:rPr lang="en-US" sz="1500" b="1" dirty="0">
                <a:latin typeface="Times New Roman" panose="02020603050405020304" pitchFamily="18" charset="0"/>
                <a:ea typeface="Open Sans" pitchFamily="34" charset="-122"/>
                <a:cs typeface="Times New Roman" panose="02020603050405020304" pitchFamily="18" charset="0"/>
              </a:rPr>
              <a:t>QA cần kiểm soát:</a:t>
            </a:r>
            <a:r>
              <a:rPr lang="en-US" sz="1500" dirty="0">
                <a:latin typeface="Times New Roman" panose="02020603050405020304" pitchFamily="18" charset="0"/>
                <a:ea typeface="Open Sans" pitchFamily="34" charset="-122"/>
                <a:cs typeface="Times New Roman" panose="02020603050405020304" pitchFamily="18" charset="0"/>
              </a:rPr>
              <a:t> Seed Data có đủ cho nghiệp vụ chính không — Dữ liệu có ổn định sau mỗi lần chạy test không — Dữ liệu có thể tái lập được không.</a:t>
            </a:r>
            <a:endParaRPr lang="en-US" sz="1500"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339274EE-A333-A9C7-BA73-3125C33A088C}"/>
              </a:ext>
            </a:extLst>
          </p:cNvPr>
          <p:cNvPicPr>
            <a:picLocks noChangeAspect="1"/>
          </p:cNvPicPr>
          <p:nvPr/>
        </p:nvPicPr>
        <p:blipFill>
          <a:blip r:embed="rId4"/>
          <a:stretch>
            <a:fillRect/>
          </a:stretch>
        </p:blipFill>
        <p:spPr>
          <a:xfrm>
            <a:off x="8051575" y="4817751"/>
            <a:ext cx="1021584" cy="324133"/>
          </a:xfrm>
          <a:prstGeom prst="rect">
            <a:avLst/>
          </a:prstGeom>
        </p:spPr>
      </p:pic>
      <p:pic>
        <p:nvPicPr>
          <p:cNvPr id="19" name="Picture 18">
            <a:extLst>
              <a:ext uri="{FF2B5EF4-FFF2-40B4-BE49-F238E27FC236}">
                <a16:creationId xmlns:a16="http://schemas.microsoft.com/office/drawing/2014/main" id="{2A4E5ECA-AD45-6D0C-2EBC-B3D694FBE62F}"/>
              </a:ext>
            </a:extLst>
          </p:cNvPr>
          <p:cNvPicPr>
            <a:picLocks noChangeAspect="1"/>
          </p:cNvPicPr>
          <p:nvPr/>
        </p:nvPicPr>
        <p:blipFill>
          <a:blip r:embed="rId5"/>
          <a:stretch>
            <a:fillRect/>
          </a:stretch>
        </p:blipFill>
        <p:spPr>
          <a:xfrm>
            <a:off x="3792141" y="272704"/>
            <a:ext cx="5066191" cy="279238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86117" y="145658"/>
            <a:ext cx="3923698" cy="661438"/>
          </a:xfrm>
          <a:prstGeom prst="rect">
            <a:avLst/>
          </a:prstGeom>
          <a:noFill/>
          <a:ln/>
        </p:spPr>
        <p:txBody>
          <a:bodyPr wrap="none" lIns="0" tIns="0" rIns="0" bIns="0" rtlCol="0" anchor="t"/>
          <a:lstStyle/>
          <a:p>
            <a:pPr marL="0" indent="0" algn="l">
              <a:lnSpc>
                <a:spcPct val="104000"/>
              </a:lnSpc>
              <a:buNone/>
            </a:pPr>
            <a:r>
              <a:rPr lang="vi-VN" sz="2000" b="1" dirty="0">
                <a:latin typeface="Times New Roman" panose="02020603050405020304" pitchFamily="18" charset="0"/>
                <a:ea typeface="Unbounded Bold" pitchFamily="34" charset="-122"/>
                <a:cs typeface="Times New Roman" panose="02020603050405020304" pitchFamily="18" charset="0"/>
              </a:rPr>
              <a:t>S</a:t>
            </a:r>
            <a:r>
              <a:rPr lang="en-US" sz="2000" b="1" dirty="0" err="1">
                <a:latin typeface="Times New Roman" panose="02020603050405020304" pitchFamily="18" charset="0"/>
                <a:ea typeface="Unbounded Bold" pitchFamily="34" charset="-122"/>
                <a:cs typeface="Times New Roman" panose="02020603050405020304" pitchFamily="18" charset="0"/>
              </a:rPr>
              <a:t>ynthetic</a:t>
            </a:r>
            <a:r>
              <a:rPr lang="en-US" sz="2000" b="1" dirty="0">
                <a:latin typeface="Times New Roman" panose="02020603050405020304" pitchFamily="18" charset="0"/>
                <a:ea typeface="Unbounded Bold" pitchFamily="34" charset="-122"/>
                <a:cs typeface="Times New Roman" panose="02020603050405020304" pitchFamily="18" charset="0"/>
              </a:rPr>
              <a:t> user</a:t>
            </a:r>
            <a:endParaRPr lang="en-US" sz="2000" dirty="0">
              <a:latin typeface="Times New Roman" panose="02020603050405020304" pitchFamily="18" charset="0"/>
              <a:cs typeface="Times New Roman" panose="02020603050405020304" pitchFamily="18" charset="0"/>
            </a:endParaRPr>
          </a:p>
        </p:txBody>
      </p:sp>
      <p:sp>
        <p:nvSpPr>
          <p:cNvPr id="4" name="Text 1"/>
          <p:cNvSpPr/>
          <p:nvPr/>
        </p:nvSpPr>
        <p:spPr>
          <a:xfrm>
            <a:off x="4644828" y="574535"/>
            <a:ext cx="2121420" cy="315589"/>
          </a:xfrm>
          <a:prstGeom prst="rect">
            <a:avLst/>
          </a:prstGeom>
          <a:noFill/>
          <a:ln/>
        </p:spPr>
        <p:txBody>
          <a:bodyPr wrap="none" lIns="0" tIns="0" rIns="0" bIns="0" rtlCol="0" anchor="t"/>
          <a:lstStyle/>
          <a:p>
            <a:pPr marL="0" indent="0" algn="l">
              <a:lnSpc>
                <a:spcPct val="104000"/>
              </a:lnSpc>
              <a:buNone/>
            </a:pPr>
            <a:r>
              <a:rPr lang="en-US" sz="1500" b="1" dirty="0">
                <a:latin typeface="Times New Roman" panose="02020603050405020304" pitchFamily="18" charset="0"/>
                <a:ea typeface="Unbounded Bold" pitchFamily="34" charset="-122"/>
                <a:cs typeface="Times New Roman" panose="02020603050405020304" pitchFamily="18" charset="0"/>
              </a:rPr>
              <a:t>Mục tiêu</a:t>
            </a:r>
            <a:endParaRPr lang="en-US" sz="1500" dirty="0">
              <a:latin typeface="Times New Roman" panose="02020603050405020304" pitchFamily="18" charset="0"/>
              <a:cs typeface="Times New Roman" panose="02020603050405020304" pitchFamily="18" charset="0"/>
            </a:endParaRPr>
          </a:p>
        </p:txBody>
      </p:sp>
      <p:sp>
        <p:nvSpPr>
          <p:cNvPr id="5" name="Text 2"/>
          <p:cNvSpPr/>
          <p:nvPr/>
        </p:nvSpPr>
        <p:spPr>
          <a:xfrm>
            <a:off x="4579816" y="831355"/>
            <a:ext cx="4072827" cy="948407"/>
          </a:xfrm>
          <a:prstGeom prst="rect">
            <a:avLst/>
          </a:prstGeom>
          <a:noFill/>
          <a:ln/>
        </p:spPr>
        <p:txBody>
          <a:bodyPr wrap="square" lIns="0" tIns="0" rIns="0" bIns="0" rtlCol="0" anchor="t">
            <a:normAutofit/>
          </a:bodyPr>
          <a:lstStyle/>
          <a:p>
            <a:pPr marL="0" indent="0" algn="l">
              <a:lnSpc>
                <a:spcPct val="126000"/>
              </a:lnSpc>
              <a:buNone/>
            </a:pPr>
            <a:r>
              <a:rPr lang="en-US" sz="1500" dirty="0">
                <a:latin typeface="Times New Roman" panose="02020603050405020304" pitchFamily="18" charset="0"/>
                <a:ea typeface="Open Sans" pitchFamily="34" charset="-122"/>
                <a:cs typeface="Times New Roman" panose="02020603050405020304" pitchFamily="18" charset="0"/>
              </a:rPr>
              <a:t>Synthetic User giúp tạo người dùng giả lập để kiểm thử mà không sử dụng dữ liệu cá nhân thật.</a:t>
            </a:r>
            <a:endParaRPr lang="en-US" sz="1500" dirty="0">
              <a:latin typeface="Times New Roman" panose="02020603050405020304" pitchFamily="18" charset="0"/>
              <a:cs typeface="Times New Roman" panose="02020603050405020304" pitchFamily="18" charset="0"/>
            </a:endParaRPr>
          </a:p>
        </p:txBody>
      </p:sp>
      <p:sp>
        <p:nvSpPr>
          <p:cNvPr id="6" name="Text 3"/>
          <p:cNvSpPr/>
          <p:nvPr/>
        </p:nvSpPr>
        <p:spPr>
          <a:xfrm>
            <a:off x="4572000" y="1516634"/>
            <a:ext cx="2651299" cy="572839"/>
          </a:xfrm>
          <a:prstGeom prst="rect">
            <a:avLst/>
          </a:prstGeom>
          <a:noFill/>
          <a:ln/>
        </p:spPr>
        <p:txBody>
          <a:bodyPr wrap="none" lIns="0" tIns="0" rIns="0" bIns="0" rtlCol="0" anchor="t"/>
          <a:lstStyle/>
          <a:p>
            <a:pPr marL="0" indent="0" algn="l">
              <a:lnSpc>
                <a:spcPct val="104000"/>
              </a:lnSpc>
              <a:buNone/>
            </a:pPr>
            <a:r>
              <a:rPr lang="en-US" sz="1500" b="1" dirty="0">
                <a:latin typeface="Times New Roman" panose="02020603050405020304" pitchFamily="18" charset="0"/>
                <a:ea typeface="Unbounded Bold" pitchFamily="34" charset="-122"/>
                <a:cs typeface="Times New Roman" panose="02020603050405020304" pitchFamily="18" charset="0"/>
              </a:rPr>
              <a:t>Kết quả thực nghiệm</a:t>
            </a:r>
            <a:endParaRPr lang="en-US" sz="1500" dirty="0">
              <a:latin typeface="Times New Roman" panose="02020603050405020304" pitchFamily="18" charset="0"/>
              <a:cs typeface="Times New Roman" panose="02020603050405020304" pitchFamily="18" charset="0"/>
            </a:endParaRPr>
          </a:p>
        </p:txBody>
      </p:sp>
      <p:sp>
        <p:nvSpPr>
          <p:cNvPr id="7" name="Text 4"/>
          <p:cNvSpPr/>
          <p:nvPr/>
        </p:nvSpPr>
        <p:spPr>
          <a:xfrm>
            <a:off x="6458544" y="1444451"/>
            <a:ext cx="2651300" cy="948407"/>
          </a:xfrm>
          <a:prstGeom prst="rect">
            <a:avLst/>
          </a:prstGeom>
          <a:noFill/>
          <a:ln/>
        </p:spPr>
        <p:txBody>
          <a:bodyPr wrap="none" lIns="0" tIns="0" rIns="0" bIns="0" rtlCol="0" anchor="t"/>
          <a:lstStyle/>
          <a:p>
            <a:pPr marL="0" indent="0" algn="l">
              <a:lnSpc>
                <a:spcPct val="126000"/>
              </a:lnSpc>
              <a:buNone/>
            </a:pPr>
            <a:r>
              <a:rPr lang="en-US" sz="1500" dirty="0">
                <a:latin typeface="Times New Roman" panose="02020603050405020304" pitchFamily="18" charset="0"/>
                <a:ea typeface="Open Sans" pitchFamily="34" charset="-122"/>
                <a:cs typeface="Times New Roman" panose="02020603050405020304" pitchFamily="18" charset="0"/>
              </a:rPr>
              <a:t>Tổng số Synthetic User: </a:t>
            </a:r>
            <a:r>
              <a:rPr lang="en-US" sz="1500" b="1" dirty="0">
                <a:latin typeface="Times New Roman" panose="02020603050405020304" pitchFamily="18" charset="0"/>
                <a:ea typeface="Open Sans" pitchFamily="34" charset="-122"/>
                <a:cs typeface="Times New Roman" panose="02020603050405020304" pitchFamily="18" charset="0"/>
              </a:rPr>
              <a:t>500</a:t>
            </a:r>
            <a:endParaRPr lang="en-US" sz="1500" dirty="0">
              <a:latin typeface="Times New Roman" panose="02020603050405020304" pitchFamily="18" charset="0"/>
              <a:cs typeface="Times New Roman" panose="02020603050405020304" pitchFamily="18" charset="0"/>
            </a:endParaRPr>
          </a:p>
        </p:txBody>
      </p:sp>
      <p:sp>
        <p:nvSpPr>
          <p:cNvPr id="8" name="Text 5"/>
          <p:cNvSpPr/>
          <p:nvPr/>
        </p:nvSpPr>
        <p:spPr>
          <a:xfrm>
            <a:off x="4579817" y="1892201"/>
            <a:ext cx="2186432" cy="810369"/>
          </a:xfrm>
          <a:prstGeom prst="rect">
            <a:avLst/>
          </a:prstGeom>
          <a:noFill/>
          <a:ln/>
        </p:spPr>
        <p:txBody>
          <a:bodyPr wrap="none" lIns="0" tIns="0" rIns="0" bIns="0" rtlCol="0" anchor="t"/>
          <a:lstStyle/>
          <a:p>
            <a:pPr marL="0" indent="0" algn="l">
              <a:lnSpc>
                <a:spcPct val="104000"/>
              </a:lnSpc>
              <a:buNone/>
            </a:pPr>
            <a:r>
              <a:rPr lang="en-US" sz="1500" b="1" dirty="0">
                <a:latin typeface="Times New Roman" panose="02020603050405020304" pitchFamily="18" charset="0"/>
                <a:ea typeface="Unbounded Bold" pitchFamily="34" charset="-122"/>
                <a:cs typeface="Times New Roman" panose="02020603050405020304" pitchFamily="18" charset="0"/>
              </a:rPr>
              <a:t>Ý nghĩa</a:t>
            </a:r>
            <a:endParaRPr lang="en-US" sz="1500" dirty="0">
              <a:latin typeface="Times New Roman" panose="02020603050405020304" pitchFamily="18" charset="0"/>
              <a:cs typeface="Times New Roman" panose="02020603050405020304" pitchFamily="18" charset="0"/>
            </a:endParaRPr>
          </a:p>
        </p:txBody>
      </p:sp>
      <p:sp>
        <p:nvSpPr>
          <p:cNvPr id="9" name="Text 6"/>
          <p:cNvSpPr/>
          <p:nvPr/>
        </p:nvSpPr>
        <p:spPr>
          <a:xfrm>
            <a:off x="4863312" y="2201912"/>
            <a:ext cx="4280688" cy="1185937"/>
          </a:xfrm>
          <a:prstGeom prst="rect">
            <a:avLst/>
          </a:prstGeom>
          <a:noFill/>
          <a:ln/>
        </p:spPr>
        <p:txBody>
          <a:bodyPr wrap="square" lIns="0" tIns="0" rIns="0" bIns="0" rtlCol="0" anchor="t">
            <a:normAutofit/>
          </a:bodyPr>
          <a:lstStyle/>
          <a:p>
            <a:pPr marL="0" indent="0" algn="l">
              <a:lnSpc>
                <a:spcPct val="126000"/>
              </a:lnSpc>
              <a:buNone/>
            </a:pPr>
            <a:r>
              <a:rPr lang="en-US" sz="1500" dirty="0">
                <a:latin typeface="Times New Roman" panose="02020603050405020304" pitchFamily="18" charset="0"/>
                <a:ea typeface="Open Sans" pitchFamily="34" charset="-122"/>
                <a:cs typeface="Times New Roman" panose="02020603050405020304" pitchFamily="18" charset="0"/>
              </a:rPr>
              <a:t>Dữ liệu giả lập phân bố khá đều, phù hợp để kiểm thử báo cáo, phân quyền, phân nhóm khách hàng và các chức năng cần nhiều dữ liệu.</a:t>
            </a:r>
            <a:endParaRPr lang="en-US" sz="1500" dirty="0">
              <a:latin typeface="Times New Roman" panose="02020603050405020304" pitchFamily="18" charset="0"/>
              <a:cs typeface="Times New Roman" panose="02020603050405020304" pitchFamily="18" charset="0"/>
            </a:endParaRPr>
          </a:p>
        </p:txBody>
      </p:sp>
      <p:sp>
        <p:nvSpPr>
          <p:cNvPr id="10" name="Text 7"/>
          <p:cNvSpPr/>
          <p:nvPr/>
        </p:nvSpPr>
        <p:spPr>
          <a:xfrm>
            <a:off x="4726039" y="3387849"/>
            <a:ext cx="2186432" cy="309712"/>
          </a:xfrm>
          <a:prstGeom prst="rect">
            <a:avLst/>
          </a:prstGeom>
          <a:noFill/>
          <a:ln/>
        </p:spPr>
        <p:txBody>
          <a:bodyPr wrap="none" lIns="0" tIns="0" rIns="0" bIns="0" rtlCol="0" anchor="t"/>
          <a:lstStyle/>
          <a:p>
            <a:pPr marL="0" indent="0" algn="l">
              <a:lnSpc>
                <a:spcPct val="104000"/>
              </a:lnSpc>
              <a:buNone/>
            </a:pPr>
            <a:r>
              <a:rPr lang="en-US" sz="1500" b="1" dirty="0">
                <a:latin typeface="Times New Roman" panose="02020603050405020304" pitchFamily="18" charset="0"/>
                <a:ea typeface="Unbounded Bold" pitchFamily="34" charset="-122"/>
                <a:cs typeface="Times New Roman" panose="02020603050405020304" pitchFamily="18" charset="0"/>
              </a:rPr>
              <a:t>QA cần kiểm soát</a:t>
            </a:r>
            <a:endParaRPr lang="en-US" sz="1500" dirty="0">
              <a:latin typeface="Times New Roman" panose="02020603050405020304" pitchFamily="18" charset="0"/>
              <a:cs typeface="Times New Roman" panose="02020603050405020304" pitchFamily="18" charset="0"/>
            </a:endParaRPr>
          </a:p>
        </p:txBody>
      </p:sp>
      <p:sp>
        <p:nvSpPr>
          <p:cNvPr id="11" name="Text 8"/>
          <p:cNvSpPr/>
          <p:nvPr/>
        </p:nvSpPr>
        <p:spPr>
          <a:xfrm>
            <a:off x="4936142" y="3697561"/>
            <a:ext cx="3716502" cy="994097"/>
          </a:xfrm>
          <a:prstGeom prst="rect">
            <a:avLst/>
          </a:prstGeom>
          <a:noFill/>
          <a:ln/>
        </p:spPr>
        <p:txBody>
          <a:bodyPr wrap="square" lIns="0" tIns="0" rIns="0" bIns="0" rtlCol="0" anchor="t">
            <a:noAutofit/>
          </a:bodyPr>
          <a:lstStyle/>
          <a:p>
            <a:pPr marL="342900" indent="-342900" algn="l">
              <a:lnSpc>
                <a:spcPct val="126000"/>
              </a:lnSpc>
              <a:buSzPct val="100000"/>
              <a:buChar char="•"/>
            </a:pPr>
            <a:r>
              <a:rPr lang="en-US" sz="1500" dirty="0">
                <a:latin typeface="Times New Roman" panose="02020603050405020304" pitchFamily="18" charset="0"/>
                <a:ea typeface="Open Sans" pitchFamily="34" charset="-122"/>
                <a:cs typeface="Times New Roman" panose="02020603050405020304" pitchFamily="18" charset="0"/>
              </a:rPr>
              <a:t>Email không trùng.</a:t>
            </a:r>
            <a:endParaRPr lang="en-US" sz="1500" dirty="0">
              <a:latin typeface="Times New Roman" panose="02020603050405020304" pitchFamily="18" charset="0"/>
              <a:cs typeface="Times New Roman" panose="02020603050405020304" pitchFamily="18" charset="0"/>
            </a:endParaRPr>
          </a:p>
          <a:p>
            <a:pPr marL="342900" indent="-342900" algn="l">
              <a:lnSpc>
                <a:spcPct val="126000"/>
              </a:lnSpc>
              <a:buSzPct val="100000"/>
              <a:buChar char="•"/>
            </a:pPr>
            <a:r>
              <a:rPr lang="en-US" sz="1500" dirty="0">
                <a:latin typeface="Times New Roman" panose="02020603050405020304" pitchFamily="18" charset="0"/>
                <a:ea typeface="Open Sans" pitchFamily="34" charset="-122"/>
                <a:cs typeface="Times New Roman" panose="02020603050405020304" pitchFamily="18" charset="0"/>
              </a:rPr>
              <a:t>Số điện thoại không trùng.</a:t>
            </a:r>
            <a:endParaRPr lang="en-US" sz="1500" dirty="0">
              <a:latin typeface="Times New Roman" panose="02020603050405020304" pitchFamily="18" charset="0"/>
              <a:cs typeface="Times New Roman" panose="02020603050405020304" pitchFamily="18" charset="0"/>
            </a:endParaRPr>
          </a:p>
          <a:p>
            <a:pPr marL="342900" indent="-342900" algn="l">
              <a:lnSpc>
                <a:spcPct val="126000"/>
              </a:lnSpc>
              <a:buSzPct val="100000"/>
              <a:buChar char="•"/>
            </a:pPr>
            <a:r>
              <a:rPr lang="en-US" sz="1500" dirty="0">
                <a:latin typeface="Times New Roman" panose="02020603050405020304" pitchFamily="18" charset="0"/>
                <a:ea typeface="Open Sans" pitchFamily="34" charset="-122"/>
                <a:cs typeface="Times New Roman" panose="02020603050405020304" pitchFamily="18" charset="0"/>
              </a:rPr>
              <a:t>Không chứa dữ liệu cá nhân thật.</a:t>
            </a:r>
            <a:endParaRPr lang="en-US" sz="1500" dirty="0">
              <a:latin typeface="Times New Roman" panose="02020603050405020304" pitchFamily="18" charset="0"/>
              <a:cs typeface="Times New Roman" panose="02020603050405020304" pitchFamily="18" charset="0"/>
            </a:endParaRPr>
          </a:p>
          <a:p>
            <a:pPr marL="342900" indent="-342900" algn="l">
              <a:lnSpc>
                <a:spcPct val="126000"/>
              </a:lnSpc>
              <a:buSzPct val="100000"/>
              <a:buChar char="•"/>
            </a:pPr>
            <a:r>
              <a:rPr lang="en-US" sz="1500" dirty="0">
                <a:latin typeface="Times New Roman" panose="02020603050405020304" pitchFamily="18" charset="0"/>
                <a:ea typeface="Open Sans" pitchFamily="34" charset="-122"/>
                <a:cs typeface="Times New Roman" panose="02020603050405020304" pitchFamily="18" charset="0"/>
              </a:rPr>
              <a:t>Có đủ nhiều nhóm người dùng.</a:t>
            </a:r>
            <a:endParaRPr lang="en-US" sz="1500"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D06C6588-EE95-F80E-677E-D956DA697445}"/>
              </a:ext>
            </a:extLst>
          </p:cNvPr>
          <p:cNvPicPr>
            <a:picLocks noChangeAspect="1"/>
          </p:cNvPicPr>
          <p:nvPr/>
        </p:nvPicPr>
        <p:blipFill>
          <a:blip r:embed="rId3"/>
          <a:stretch>
            <a:fillRect/>
          </a:stretch>
        </p:blipFill>
        <p:spPr>
          <a:xfrm>
            <a:off x="8051575" y="4817751"/>
            <a:ext cx="1021584" cy="324133"/>
          </a:xfrm>
          <a:prstGeom prst="rect">
            <a:avLst/>
          </a:prstGeom>
        </p:spPr>
      </p:pic>
      <p:pic>
        <p:nvPicPr>
          <p:cNvPr id="20" name="Picture 19">
            <a:extLst>
              <a:ext uri="{FF2B5EF4-FFF2-40B4-BE49-F238E27FC236}">
                <a16:creationId xmlns:a16="http://schemas.microsoft.com/office/drawing/2014/main" id="{4D32627E-80A2-73A6-E6B7-E87887E167A0}"/>
              </a:ext>
            </a:extLst>
          </p:cNvPr>
          <p:cNvPicPr>
            <a:picLocks noChangeAspect="1"/>
          </p:cNvPicPr>
          <p:nvPr/>
        </p:nvPicPr>
        <p:blipFill>
          <a:blip r:embed="rId4"/>
          <a:stretch>
            <a:fillRect/>
          </a:stretch>
        </p:blipFill>
        <p:spPr>
          <a:xfrm>
            <a:off x="-14533" y="766272"/>
            <a:ext cx="4578717" cy="3253171"/>
          </a:xfrm>
          <a:prstGeom prst="rect">
            <a:avLst/>
          </a:prstGeom>
          <a:ln>
            <a:noFill/>
          </a:ln>
          <a:effectLst>
            <a:softEdge rad="112500"/>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86118" y="129473"/>
            <a:ext cx="5393896" cy="640043"/>
          </a:xfrm>
          <a:prstGeom prst="rect">
            <a:avLst/>
          </a:prstGeom>
          <a:noFill/>
          <a:ln/>
        </p:spPr>
        <p:txBody>
          <a:bodyPr wrap="none" lIns="0" tIns="0" rIns="0" bIns="0" rtlCol="0" anchor="t"/>
          <a:lstStyle/>
          <a:p>
            <a:pPr marL="0" indent="0" algn="l">
              <a:lnSpc>
                <a:spcPct val="104000"/>
              </a:lnSpc>
              <a:buNone/>
            </a:pPr>
            <a:r>
              <a:rPr lang="en-US" sz="2100" b="1" dirty="0">
                <a:solidFill>
                  <a:srgbClr val="333F70"/>
                </a:solidFill>
                <a:latin typeface="Unbounded Bold" pitchFamily="34" charset="0"/>
                <a:ea typeface="Unbounded Bold" pitchFamily="34" charset="-122"/>
                <a:cs typeface="Unbounded Bold" pitchFamily="34" charset="-120"/>
              </a:rPr>
              <a:t>Refresh</a:t>
            </a:r>
            <a:endParaRPr lang="vi-VN" sz="2100" b="1" dirty="0">
              <a:solidFill>
                <a:srgbClr val="333F70"/>
              </a:solidFill>
              <a:latin typeface="Unbounded Bold" pitchFamily="34" charset="0"/>
              <a:ea typeface="Unbounded Bold" pitchFamily="34" charset="-122"/>
              <a:cs typeface="Unbounded Bold" pitchFamily="34" charset="-120"/>
            </a:endParaRPr>
          </a:p>
          <a:p>
            <a:pPr marL="0" indent="0" algn="l">
              <a:lnSpc>
                <a:spcPct val="104000"/>
              </a:lnSpc>
              <a:buNone/>
            </a:pPr>
            <a:r>
              <a:rPr lang="en-US" sz="2100" b="1" dirty="0">
                <a:solidFill>
                  <a:srgbClr val="333F70"/>
                </a:solidFill>
                <a:latin typeface="Unbounded Bold" pitchFamily="34" charset="0"/>
                <a:ea typeface="Unbounded Bold" pitchFamily="34" charset="-122"/>
                <a:cs typeface="Unbounded Bold" pitchFamily="34" charset="-120"/>
              </a:rPr>
              <a:t> Dữ Liệu </a:t>
            </a:r>
            <a:endParaRPr lang="vi-VN" sz="2100" b="1" dirty="0">
              <a:solidFill>
                <a:srgbClr val="333F70"/>
              </a:solidFill>
              <a:latin typeface="Unbounded Bold" pitchFamily="34" charset="0"/>
              <a:ea typeface="Unbounded Bold" pitchFamily="34" charset="-122"/>
              <a:cs typeface="Unbounded Bold" pitchFamily="34" charset="-120"/>
            </a:endParaRPr>
          </a:p>
          <a:p>
            <a:pPr marL="0" indent="0" algn="l">
              <a:lnSpc>
                <a:spcPct val="104000"/>
              </a:lnSpc>
              <a:buNone/>
            </a:pPr>
            <a:r>
              <a:rPr lang="en-US" sz="2100" b="1" dirty="0" err="1">
                <a:solidFill>
                  <a:srgbClr val="333F70"/>
                </a:solidFill>
                <a:latin typeface="Unbounded Bold" pitchFamily="34" charset="0"/>
                <a:ea typeface="Unbounded Bold" pitchFamily="34" charset="-122"/>
                <a:cs typeface="Unbounded Bold" pitchFamily="34" charset="-120"/>
              </a:rPr>
              <a:t>Kiểm</a:t>
            </a:r>
            <a:r>
              <a:rPr lang="en-US" sz="2100" b="1" dirty="0">
                <a:solidFill>
                  <a:srgbClr val="333F70"/>
                </a:solidFill>
                <a:latin typeface="Unbounded Bold" pitchFamily="34" charset="0"/>
                <a:ea typeface="Unbounded Bold" pitchFamily="34" charset="-122"/>
                <a:cs typeface="Unbounded Bold" pitchFamily="34" charset="-120"/>
              </a:rPr>
              <a:t> Thử</a:t>
            </a:r>
            <a:endParaRPr lang="en-US" sz="2100" dirty="0"/>
          </a:p>
        </p:txBody>
      </p:sp>
      <p:sp>
        <p:nvSpPr>
          <p:cNvPr id="3" name="Text 1"/>
          <p:cNvSpPr/>
          <p:nvPr/>
        </p:nvSpPr>
        <p:spPr>
          <a:xfrm>
            <a:off x="1126705" y="3611078"/>
            <a:ext cx="7946454" cy="153293"/>
          </a:xfrm>
          <a:prstGeom prst="rect">
            <a:avLst/>
          </a:prstGeom>
          <a:noFill/>
          <a:ln/>
        </p:spPr>
        <p:txBody>
          <a:bodyPr wrap="none" lIns="0" tIns="0" rIns="0" bIns="0" rtlCol="0" anchor="t"/>
          <a:lstStyle/>
          <a:p>
            <a:pPr marL="0" indent="0" algn="l">
              <a:lnSpc>
                <a:spcPct val="118000"/>
              </a:lnSpc>
              <a:buNone/>
            </a:pPr>
            <a:r>
              <a:rPr lang="en-US" sz="1500" dirty="0">
                <a:latin typeface="Times New Roman" panose="02020603050405020304" pitchFamily="18" charset="0"/>
                <a:ea typeface="Open Sans" pitchFamily="34" charset="-122"/>
                <a:cs typeface="Times New Roman" panose="02020603050405020304" pitchFamily="18" charset="0"/>
              </a:rPr>
              <a:t>Refresh Data giúp làm mới môi trường kiểm thử, đảm bảo dữ liệu test gần với thực tế hơn.</a:t>
            </a:r>
            <a:endParaRPr lang="en-US" sz="1500" dirty="0">
              <a:latin typeface="Times New Roman" panose="02020603050405020304" pitchFamily="18" charset="0"/>
              <a:cs typeface="Times New Roman" panose="02020603050405020304" pitchFamily="18" charset="0"/>
            </a:endParaRPr>
          </a:p>
        </p:txBody>
      </p:sp>
      <p:sp>
        <p:nvSpPr>
          <p:cNvPr id="5" name="Text 2"/>
          <p:cNvSpPr/>
          <p:nvPr/>
        </p:nvSpPr>
        <p:spPr>
          <a:xfrm>
            <a:off x="6804687" y="3242347"/>
            <a:ext cx="1093415" cy="210632"/>
          </a:xfrm>
          <a:prstGeom prst="rect">
            <a:avLst/>
          </a:prstGeom>
          <a:noFill/>
          <a:ln/>
        </p:spPr>
        <p:txBody>
          <a:bodyPr wrap="none" lIns="0" tIns="0" rIns="0" bIns="0" rtlCol="0" anchor="t"/>
          <a:lstStyle/>
          <a:p>
            <a:pPr marL="0" indent="0" algn="ctr">
              <a:lnSpc>
                <a:spcPct val="104000"/>
              </a:lnSpc>
              <a:buNone/>
            </a:pPr>
            <a:r>
              <a:rPr lang="en-US" sz="1300" b="1" dirty="0">
                <a:solidFill>
                  <a:srgbClr val="333F70"/>
                </a:solidFill>
                <a:latin typeface="Unbounded Bold" pitchFamily="34" charset="0"/>
                <a:ea typeface="Unbounded Bold" pitchFamily="34" charset="-122"/>
                <a:cs typeface="Unbounded Bold" pitchFamily="34" charset="-120"/>
              </a:rPr>
              <a:t>Ghi log</a:t>
            </a:r>
            <a:endParaRPr lang="en-US" sz="1300" dirty="0"/>
          </a:p>
        </p:txBody>
      </p:sp>
      <p:sp>
        <p:nvSpPr>
          <p:cNvPr id="6" name="Text 3"/>
          <p:cNvSpPr/>
          <p:nvPr/>
        </p:nvSpPr>
        <p:spPr>
          <a:xfrm>
            <a:off x="5426684" y="3242347"/>
            <a:ext cx="1093415" cy="210632"/>
          </a:xfrm>
          <a:prstGeom prst="rect">
            <a:avLst/>
          </a:prstGeom>
          <a:noFill/>
          <a:ln/>
        </p:spPr>
        <p:txBody>
          <a:bodyPr wrap="none" lIns="0" tIns="0" rIns="0" bIns="0" rtlCol="0" anchor="t"/>
          <a:lstStyle/>
          <a:p>
            <a:pPr marL="0" indent="0" algn="ctr">
              <a:lnSpc>
                <a:spcPct val="104000"/>
              </a:lnSpc>
              <a:buNone/>
            </a:pPr>
            <a:r>
              <a:rPr lang="en-US" sz="1300" b="1" dirty="0">
                <a:solidFill>
                  <a:srgbClr val="333F70"/>
                </a:solidFill>
                <a:latin typeface="Unbounded Bold" pitchFamily="34" charset="0"/>
                <a:ea typeface="Unbounded Bold" pitchFamily="34" charset="-122"/>
                <a:cs typeface="Unbounded Bold" pitchFamily="34" charset="-120"/>
              </a:rPr>
              <a:t>Kiểm tra</a:t>
            </a:r>
            <a:endParaRPr lang="en-US" sz="1300" dirty="0"/>
          </a:p>
        </p:txBody>
      </p:sp>
      <p:sp>
        <p:nvSpPr>
          <p:cNvPr id="7" name="Text 4"/>
          <p:cNvSpPr/>
          <p:nvPr/>
        </p:nvSpPr>
        <p:spPr>
          <a:xfrm>
            <a:off x="4056170" y="3242347"/>
            <a:ext cx="1093415" cy="210632"/>
          </a:xfrm>
          <a:prstGeom prst="rect">
            <a:avLst/>
          </a:prstGeom>
          <a:noFill/>
          <a:ln/>
        </p:spPr>
        <p:txBody>
          <a:bodyPr wrap="none" lIns="0" tIns="0" rIns="0" bIns="0" rtlCol="0" anchor="t"/>
          <a:lstStyle/>
          <a:p>
            <a:pPr marL="0" indent="0" algn="ctr">
              <a:lnSpc>
                <a:spcPct val="104000"/>
              </a:lnSpc>
              <a:buNone/>
            </a:pPr>
            <a:r>
              <a:rPr lang="en-US" sz="1300" b="1" dirty="0">
                <a:solidFill>
                  <a:srgbClr val="333F70"/>
                </a:solidFill>
                <a:latin typeface="Unbounded Bold" pitchFamily="34" charset="0"/>
                <a:ea typeface="Unbounded Bold" pitchFamily="34" charset="-122"/>
                <a:cs typeface="Unbounded Bold" pitchFamily="34" charset="-120"/>
              </a:rPr>
              <a:t>Import</a:t>
            </a:r>
            <a:endParaRPr lang="en-US" sz="1300" dirty="0"/>
          </a:p>
        </p:txBody>
      </p:sp>
      <p:sp>
        <p:nvSpPr>
          <p:cNvPr id="8" name="Text 5"/>
          <p:cNvSpPr/>
          <p:nvPr/>
        </p:nvSpPr>
        <p:spPr>
          <a:xfrm>
            <a:off x="2685657" y="3242347"/>
            <a:ext cx="1093415" cy="210632"/>
          </a:xfrm>
          <a:prstGeom prst="rect">
            <a:avLst/>
          </a:prstGeom>
          <a:noFill/>
          <a:ln/>
        </p:spPr>
        <p:txBody>
          <a:bodyPr wrap="none" lIns="0" tIns="0" rIns="0" bIns="0" rtlCol="0" anchor="t"/>
          <a:lstStyle/>
          <a:p>
            <a:pPr marL="0" indent="0" algn="ctr">
              <a:lnSpc>
                <a:spcPct val="104000"/>
              </a:lnSpc>
              <a:buNone/>
            </a:pPr>
            <a:r>
              <a:rPr lang="en-US" sz="1300" b="1" dirty="0">
                <a:solidFill>
                  <a:srgbClr val="333F70"/>
                </a:solidFill>
                <a:latin typeface="Unbounded Bold" pitchFamily="34" charset="0"/>
                <a:ea typeface="Unbounded Bold" pitchFamily="34" charset="-122"/>
                <a:cs typeface="Unbounded Bold" pitchFamily="34" charset="-120"/>
              </a:rPr>
              <a:t>Masking</a:t>
            </a:r>
            <a:endParaRPr lang="en-US" sz="1300" dirty="0"/>
          </a:p>
        </p:txBody>
      </p:sp>
      <p:sp>
        <p:nvSpPr>
          <p:cNvPr id="9" name="Text 6"/>
          <p:cNvSpPr/>
          <p:nvPr/>
        </p:nvSpPr>
        <p:spPr>
          <a:xfrm>
            <a:off x="1285187" y="3242347"/>
            <a:ext cx="1093415" cy="210632"/>
          </a:xfrm>
          <a:prstGeom prst="rect">
            <a:avLst/>
          </a:prstGeom>
          <a:noFill/>
          <a:ln/>
        </p:spPr>
        <p:txBody>
          <a:bodyPr wrap="none" lIns="0" tIns="0" rIns="0" bIns="0" rtlCol="0" anchor="t"/>
          <a:lstStyle/>
          <a:p>
            <a:pPr marL="0" indent="0" algn="ctr">
              <a:lnSpc>
                <a:spcPct val="104000"/>
              </a:lnSpc>
              <a:buNone/>
            </a:pPr>
            <a:r>
              <a:rPr lang="en-US" sz="1300" b="1" dirty="0">
                <a:solidFill>
                  <a:srgbClr val="333F70"/>
                </a:solidFill>
                <a:latin typeface="Unbounded Bold" pitchFamily="34" charset="0"/>
                <a:ea typeface="Unbounded Bold" pitchFamily="34" charset="-122"/>
                <a:cs typeface="Unbounded Bold" pitchFamily="34" charset="-120"/>
              </a:rPr>
              <a:t>Sao lưu</a:t>
            </a:r>
            <a:endParaRPr lang="en-US" sz="1300" dirty="0"/>
          </a:p>
        </p:txBody>
      </p:sp>
      <p:sp>
        <p:nvSpPr>
          <p:cNvPr id="10" name="Text 7"/>
          <p:cNvSpPr/>
          <p:nvPr/>
        </p:nvSpPr>
        <p:spPr>
          <a:xfrm>
            <a:off x="827336" y="4079230"/>
            <a:ext cx="2206377" cy="169515"/>
          </a:xfrm>
          <a:prstGeom prst="rect">
            <a:avLst/>
          </a:prstGeom>
          <a:noFill/>
          <a:ln/>
        </p:spPr>
        <p:txBody>
          <a:bodyPr wrap="none" lIns="0" tIns="0" rIns="0" bIns="0" rtlCol="0" anchor="t"/>
          <a:lstStyle/>
          <a:p>
            <a:pPr marL="0" indent="0" algn="l">
              <a:lnSpc>
                <a:spcPct val="104000"/>
              </a:lnSpc>
              <a:buNone/>
            </a:pPr>
            <a:r>
              <a:rPr lang="en-US" sz="1500" b="1" dirty="0">
                <a:solidFill>
                  <a:srgbClr val="333F70"/>
                </a:solidFill>
                <a:latin typeface="Times New Roman" panose="02020603050405020304" pitchFamily="18" charset="0"/>
                <a:ea typeface="Unbounded Bold" pitchFamily="34" charset="-122"/>
                <a:cs typeface="Times New Roman" panose="02020603050405020304" pitchFamily="18" charset="0"/>
              </a:rPr>
              <a:t>Kết quả thực nghiệm</a:t>
            </a:r>
            <a:endParaRPr lang="en-US" sz="1500" dirty="0">
              <a:latin typeface="Times New Roman" panose="02020603050405020304" pitchFamily="18" charset="0"/>
              <a:cs typeface="Times New Roman" panose="02020603050405020304" pitchFamily="18" charset="0"/>
            </a:endParaRPr>
          </a:p>
        </p:txBody>
      </p:sp>
      <p:sp>
        <p:nvSpPr>
          <p:cNvPr id="11" name="Text 8"/>
          <p:cNvSpPr/>
          <p:nvPr/>
        </p:nvSpPr>
        <p:spPr>
          <a:xfrm>
            <a:off x="827336" y="4331791"/>
            <a:ext cx="4069407" cy="153293"/>
          </a:xfrm>
          <a:prstGeom prst="rect">
            <a:avLst/>
          </a:prstGeom>
          <a:noFill/>
          <a:ln/>
        </p:spPr>
        <p:txBody>
          <a:bodyPr wrap="none" lIns="0" tIns="0" rIns="0" bIns="0" rtlCol="0" anchor="t"/>
          <a:lstStyle/>
          <a:p>
            <a:pPr marL="0" indent="0" algn="l">
              <a:lnSpc>
                <a:spcPct val="118000"/>
              </a:lnSpc>
              <a:buNone/>
            </a:pPr>
            <a:r>
              <a:rPr lang="en-US" sz="1500" b="1" dirty="0">
                <a:solidFill>
                  <a:srgbClr val="333F70"/>
                </a:solidFill>
                <a:latin typeface="Times New Roman" panose="02020603050405020304" pitchFamily="18" charset="0"/>
                <a:ea typeface="Open Sans" pitchFamily="34" charset="-122"/>
                <a:cs typeface="Times New Roman" panose="02020603050405020304" pitchFamily="18" charset="0"/>
              </a:rPr>
              <a:t>4/4</a:t>
            </a:r>
            <a:r>
              <a:rPr lang="en-US" sz="1500" dirty="0">
                <a:solidFill>
                  <a:srgbClr val="333F70"/>
                </a:solidFill>
                <a:latin typeface="Times New Roman" panose="02020603050405020304" pitchFamily="18" charset="0"/>
                <a:ea typeface="Open Sans" pitchFamily="34" charset="-122"/>
                <a:cs typeface="Times New Roman" panose="02020603050405020304" pitchFamily="18" charset="0"/>
              </a:rPr>
              <a:t> kiểm tra toàn vẹn dữ liệu đạt.</a:t>
            </a:r>
            <a:endParaRPr lang="en-US" sz="1500" dirty="0">
              <a:latin typeface="Times New Roman" panose="02020603050405020304" pitchFamily="18" charset="0"/>
              <a:cs typeface="Times New Roman" panose="02020603050405020304" pitchFamily="18" charset="0"/>
            </a:endParaRPr>
          </a:p>
        </p:txBody>
      </p:sp>
      <p:sp>
        <p:nvSpPr>
          <p:cNvPr id="12" name="Text 9"/>
          <p:cNvSpPr/>
          <p:nvPr/>
        </p:nvSpPr>
        <p:spPr>
          <a:xfrm>
            <a:off x="4709071" y="4079230"/>
            <a:ext cx="1813917" cy="169515"/>
          </a:xfrm>
          <a:prstGeom prst="rect">
            <a:avLst/>
          </a:prstGeom>
          <a:noFill/>
          <a:ln/>
        </p:spPr>
        <p:txBody>
          <a:bodyPr wrap="none" lIns="0" tIns="0" rIns="0" bIns="0" rtlCol="0" anchor="t"/>
          <a:lstStyle/>
          <a:p>
            <a:pPr marL="0" indent="0" algn="l">
              <a:lnSpc>
                <a:spcPct val="104000"/>
              </a:lnSpc>
              <a:buNone/>
            </a:pPr>
            <a:r>
              <a:rPr lang="en-US" sz="1500" b="1" dirty="0">
                <a:solidFill>
                  <a:srgbClr val="333F70"/>
                </a:solidFill>
                <a:latin typeface="Times New Roman" panose="02020603050405020304" pitchFamily="18" charset="0"/>
                <a:ea typeface="Unbounded Bold" pitchFamily="34" charset="-122"/>
                <a:cs typeface="Times New Roman" panose="02020603050405020304" pitchFamily="18" charset="0"/>
              </a:rPr>
              <a:t>Ý nghĩa</a:t>
            </a:r>
            <a:endParaRPr lang="en-US" sz="1500" dirty="0">
              <a:latin typeface="Times New Roman" panose="02020603050405020304" pitchFamily="18" charset="0"/>
              <a:cs typeface="Times New Roman" panose="02020603050405020304" pitchFamily="18" charset="0"/>
            </a:endParaRPr>
          </a:p>
        </p:txBody>
      </p:sp>
      <p:sp>
        <p:nvSpPr>
          <p:cNvPr id="13" name="Text 10"/>
          <p:cNvSpPr/>
          <p:nvPr/>
        </p:nvSpPr>
        <p:spPr>
          <a:xfrm>
            <a:off x="4716884" y="4341524"/>
            <a:ext cx="4427116" cy="306586"/>
          </a:xfrm>
          <a:prstGeom prst="rect">
            <a:avLst/>
          </a:prstGeom>
          <a:noFill/>
          <a:ln/>
        </p:spPr>
        <p:txBody>
          <a:bodyPr wrap="square" lIns="0" tIns="0" rIns="0" bIns="0" rtlCol="0" anchor="t">
            <a:noAutofit/>
          </a:bodyPr>
          <a:lstStyle/>
          <a:p>
            <a:pPr marL="0" indent="0" algn="l">
              <a:lnSpc>
                <a:spcPct val="118000"/>
              </a:lnSpc>
              <a:buNone/>
            </a:pPr>
            <a:r>
              <a:rPr lang="en-US" sz="1500" dirty="0">
                <a:solidFill>
                  <a:srgbClr val="333F70"/>
                </a:solidFill>
                <a:latin typeface="Times New Roman" panose="02020603050405020304" pitchFamily="18" charset="0"/>
                <a:ea typeface="Open Sans" pitchFamily="34" charset="-122"/>
                <a:cs typeface="Times New Roman" panose="02020603050405020304" pitchFamily="18" charset="0"/>
              </a:rPr>
              <a:t>Dữ liệu sau refresh vẫn đảm bảo quan hệ giữa khách hàng, đơn hàng, sản phẩm và thanh toán.</a:t>
            </a:r>
            <a:endParaRPr lang="en-US" sz="1500" dirty="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F434F49E-4172-7E0D-1802-B7ECE4B68DFE}"/>
              </a:ext>
            </a:extLst>
          </p:cNvPr>
          <p:cNvPicPr>
            <a:picLocks noChangeAspect="1"/>
          </p:cNvPicPr>
          <p:nvPr/>
        </p:nvPicPr>
        <p:blipFill>
          <a:blip r:embed="rId3"/>
          <a:stretch>
            <a:fillRect/>
          </a:stretch>
        </p:blipFill>
        <p:spPr>
          <a:xfrm>
            <a:off x="8051575" y="4817751"/>
            <a:ext cx="1021584" cy="324133"/>
          </a:xfrm>
          <a:prstGeom prst="rect">
            <a:avLst/>
          </a:prstGeom>
        </p:spPr>
      </p:pic>
      <p:pic>
        <p:nvPicPr>
          <p:cNvPr id="18" name="Picture 17">
            <a:extLst>
              <a:ext uri="{FF2B5EF4-FFF2-40B4-BE49-F238E27FC236}">
                <a16:creationId xmlns:a16="http://schemas.microsoft.com/office/drawing/2014/main" id="{85637DB6-4920-ECC4-21FF-9946FE0D5D60}"/>
              </a:ext>
            </a:extLst>
          </p:cNvPr>
          <p:cNvPicPr>
            <a:picLocks noChangeAspect="1"/>
          </p:cNvPicPr>
          <p:nvPr/>
        </p:nvPicPr>
        <p:blipFill>
          <a:blip r:embed="rId4"/>
          <a:stretch>
            <a:fillRect/>
          </a:stretch>
        </p:blipFill>
        <p:spPr>
          <a:xfrm>
            <a:off x="2734138" y="-64083"/>
            <a:ext cx="5998807" cy="3306430"/>
          </a:xfrm>
          <a:prstGeom prst="rect">
            <a:avLst/>
          </a:prstGeom>
          <a:ln>
            <a:noFill/>
          </a:ln>
          <a:effectLst>
            <a:softEdge rad="112500"/>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37565" y="88627"/>
            <a:ext cx="7914010" cy="442987"/>
          </a:xfrm>
          <a:prstGeom prst="rect">
            <a:avLst/>
          </a:prstGeom>
          <a:noFill/>
          <a:ln/>
        </p:spPr>
        <p:txBody>
          <a:bodyPr wrap="none" lIns="0" tIns="0" rIns="0" bIns="0" rtlCol="0" anchor="t"/>
          <a:lstStyle/>
          <a:p>
            <a:pPr marL="0" indent="0" algn="l">
              <a:lnSpc>
                <a:spcPct val="104000"/>
              </a:lnSpc>
              <a:buNone/>
            </a:pPr>
            <a:r>
              <a:rPr lang="en-US" sz="2750" b="1" dirty="0">
                <a:solidFill>
                  <a:srgbClr val="333F70"/>
                </a:solidFill>
                <a:latin typeface="Unbounded Bold" pitchFamily="34" charset="0"/>
                <a:ea typeface="Unbounded Bold" pitchFamily="34" charset="-122"/>
                <a:cs typeface="Unbounded Bold" pitchFamily="34" charset="-120"/>
              </a:rPr>
              <a:t>Dữ Liệu Nhạy Cảm Trước Masking</a:t>
            </a:r>
            <a:endParaRPr lang="en-US" sz="2750" dirty="0"/>
          </a:p>
        </p:txBody>
      </p:sp>
      <p:sp>
        <p:nvSpPr>
          <p:cNvPr id="3" name="Text 1"/>
          <p:cNvSpPr/>
          <p:nvPr/>
        </p:nvSpPr>
        <p:spPr>
          <a:xfrm>
            <a:off x="277269" y="691083"/>
            <a:ext cx="2599134" cy="810518"/>
          </a:xfrm>
          <a:prstGeom prst="rect">
            <a:avLst/>
          </a:prstGeom>
          <a:noFill/>
          <a:ln/>
        </p:spPr>
        <p:txBody>
          <a:bodyPr wrap="none" lIns="0" tIns="0" rIns="0" bIns="0" rtlCol="0" anchor="t"/>
          <a:lstStyle/>
          <a:p>
            <a:pPr marL="0" indent="0" algn="l">
              <a:lnSpc>
                <a:spcPct val="104000"/>
              </a:lnSpc>
              <a:buNone/>
            </a:pPr>
            <a:r>
              <a:rPr lang="en-US" sz="1350" b="1" dirty="0">
                <a:solidFill>
                  <a:srgbClr val="333F70"/>
                </a:solidFill>
                <a:latin typeface="Unbounded Bold" pitchFamily="34" charset="0"/>
                <a:ea typeface="Unbounded Bold" pitchFamily="34" charset="-122"/>
                <a:cs typeface="Unbounded Bold" pitchFamily="34" charset="-120"/>
              </a:rPr>
              <a:t>Mục tiêu kiểm tra</a:t>
            </a:r>
            <a:endParaRPr lang="en-US" sz="1350" dirty="0"/>
          </a:p>
        </p:txBody>
      </p:sp>
      <p:sp>
        <p:nvSpPr>
          <p:cNvPr id="4" name="Text 2"/>
          <p:cNvSpPr/>
          <p:nvPr/>
        </p:nvSpPr>
        <p:spPr>
          <a:xfrm>
            <a:off x="277269" y="986320"/>
            <a:ext cx="8827813" cy="954696"/>
          </a:xfrm>
          <a:prstGeom prst="rect">
            <a:avLst/>
          </a:prstGeom>
          <a:noFill/>
          <a:ln/>
        </p:spPr>
        <p:txBody>
          <a:bodyPr wrap="none" lIns="0" tIns="0" rIns="0" bIns="0" rtlCol="0" anchor="t"/>
          <a:lstStyle/>
          <a:p>
            <a:pPr marL="0" indent="0" algn="l">
              <a:lnSpc>
                <a:spcPct val="133000"/>
              </a:lnSpc>
              <a:buNone/>
            </a:pPr>
            <a:r>
              <a:rPr lang="en-US" sz="1500" dirty="0">
                <a:latin typeface="Times New Roman" panose="02020603050405020304" pitchFamily="18" charset="0"/>
                <a:ea typeface="Open Sans" pitchFamily="34" charset="-122"/>
                <a:cs typeface="Times New Roman" panose="02020603050405020304" pitchFamily="18" charset="0"/>
              </a:rPr>
              <a:t>Xác định số lượng dữ liệu cá nhân còn ở dạng thật trước khi đưa vào môi trường kiểm thử.</a:t>
            </a:r>
            <a:endParaRPr lang="en-US" sz="1500" dirty="0">
              <a:latin typeface="Times New Roman" panose="02020603050405020304" pitchFamily="18" charset="0"/>
              <a:cs typeface="Times New Roman" panose="02020603050405020304" pitchFamily="18" charset="0"/>
            </a:endParaRPr>
          </a:p>
        </p:txBody>
      </p:sp>
      <p:sp>
        <p:nvSpPr>
          <p:cNvPr id="5" name="Text 3"/>
          <p:cNvSpPr/>
          <p:nvPr/>
        </p:nvSpPr>
        <p:spPr>
          <a:xfrm>
            <a:off x="-499201" y="2178840"/>
            <a:ext cx="2599134" cy="467841"/>
          </a:xfrm>
          <a:prstGeom prst="rect">
            <a:avLst/>
          </a:prstGeom>
          <a:noFill/>
          <a:ln/>
        </p:spPr>
        <p:txBody>
          <a:bodyPr wrap="none" lIns="0" tIns="0" rIns="0" bIns="0" rtlCol="0" anchor="t"/>
          <a:lstStyle/>
          <a:p>
            <a:pPr marL="0" indent="0" algn="ctr">
              <a:lnSpc>
                <a:spcPct val="83000"/>
              </a:lnSpc>
              <a:buNone/>
            </a:pPr>
            <a:r>
              <a:rPr lang="en-US" sz="3650" b="1" dirty="0">
                <a:solidFill>
                  <a:srgbClr val="333F70"/>
                </a:solidFill>
                <a:latin typeface="Unbounded Bold" pitchFamily="34" charset="0"/>
                <a:ea typeface="Unbounded Bold" pitchFamily="34" charset="-122"/>
                <a:cs typeface="Unbounded Bold" pitchFamily="34" charset="-120"/>
              </a:rPr>
              <a:t>100</a:t>
            </a:r>
            <a:endParaRPr lang="en-US" sz="3650" dirty="0"/>
          </a:p>
        </p:txBody>
      </p:sp>
      <p:sp>
        <p:nvSpPr>
          <p:cNvPr id="6" name="Text 4"/>
          <p:cNvSpPr/>
          <p:nvPr/>
        </p:nvSpPr>
        <p:spPr>
          <a:xfrm>
            <a:off x="0" y="2686438"/>
            <a:ext cx="1772022" cy="221456"/>
          </a:xfrm>
          <a:prstGeom prst="rect">
            <a:avLst/>
          </a:prstGeom>
          <a:noFill/>
          <a:ln/>
        </p:spPr>
        <p:txBody>
          <a:bodyPr wrap="none" lIns="0" tIns="0" rIns="0" bIns="0" rtlCol="0" anchor="t"/>
          <a:lstStyle/>
          <a:p>
            <a:pPr marL="0" indent="0" algn="ctr">
              <a:lnSpc>
                <a:spcPct val="104000"/>
              </a:lnSpc>
              <a:buNone/>
            </a:pPr>
            <a:r>
              <a:rPr lang="en-US" sz="1350" b="1" dirty="0">
                <a:solidFill>
                  <a:srgbClr val="333F70"/>
                </a:solidFill>
                <a:latin typeface="Unbounded Bold" pitchFamily="34" charset="0"/>
                <a:ea typeface="Unbounded Bold" pitchFamily="34" charset="-122"/>
                <a:cs typeface="Unbounded Bold" pitchFamily="34" charset="-120"/>
              </a:rPr>
              <a:t>Email thật</a:t>
            </a:r>
            <a:endParaRPr lang="en-US" sz="1350" dirty="0"/>
          </a:p>
        </p:txBody>
      </p:sp>
      <p:sp>
        <p:nvSpPr>
          <p:cNvPr id="7" name="Text 5"/>
          <p:cNvSpPr/>
          <p:nvPr/>
        </p:nvSpPr>
        <p:spPr>
          <a:xfrm>
            <a:off x="-499201" y="3059066"/>
            <a:ext cx="2599134" cy="467841"/>
          </a:xfrm>
          <a:prstGeom prst="rect">
            <a:avLst/>
          </a:prstGeom>
          <a:noFill/>
          <a:ln/>
        </p:spPr>
        <p:txBody>
          <a:bodyPr wrap="none" lIns="0" tIns="0" rIns="0" bIns="0" rtlCol="0" anchor="t"/>
          <a:lstStyle/>
          <a:p>
            <a:pPr marL="0" indent="0" algn="ctr">
              <a:lnSpc>
                <a:spcPct val="83000"/>
              </a:lnSpc>
              <a:buNone/>
            </a:pPr>
            <a:r>
              <a:rPr lang="en-US" sz="3650" b="1" dirty="0">
                <a:solidFill>
                  <a:srgbClr val="333F70"/>
                </a:solidFill>
                <a:latin typeface="Unbounded Bold" pitchFamily="34" charset="0"/>
                <a:ea typeface="Unbounded Bold" pitchFamily="34" charset="-122"/>
                <a:cs typeface="Unbounded Bold" pitchFamily="34" charset="-120"/>
              </a:rPr>
              <a:t>100</a:t>
            </a:r>
            <a:endParaRPr lang="en-US" sz="3650" dirty="0"/>
          </a:p>
        </p:txBody>
      </p:sp>
      <p:sp>
        <p:nvSpPr>
          <p:cNvPr id="8" name="Text 6"/>
          <p:cNvSpPr/>
          <p:nvPr/>
        </p:nvSpPr>
        <p:spPr>
          <a:xfrm>
            <a:off x="243507" y="3656516"/>
            <a:ext cx="1968401" cy="221456"/>
          </a:xfrm>
          <a:prstGeom prst="rect">
            <a:avLst/>
          </a:prstGeom>
          <a:noFill/>
          <a:ln/>
        </p:spPr>
        <p:txBody>
          <a:bodyPr wrap="none" lIns="0" tIns="0" rIns="0" bIns="0" rtlCol="0" anchor="t"/>
          <a:lstStyle/>
          <a:p>
            <a:pPr marL="0" indent="0" algn="ctr">
              <a:lnSpc>
                <a:spcPct val="104000"/>
              </a:lnSpc>
              <a:buNone/>
            </a:pPr>
            <a:r>
              <a:rPr lang="en-US" sz="1350" b="1" dirty="0">
                <a:solidFill>
                  <a:srgbClr val="333F70"/>
                </a:solidFill>
                <a:latin typeface="Unbounded Bold" pitchFamily="34" charset="0"/>
                <a:ea typeface="Unbounded Bold" pitchFamily="34" charset="-122"/>
                <a:cs typeface="Unbounded Bold" pitchFamily="34" charset="-120"/>
              </a:rPr>
              <a:t>Số điện thoại thật</a:t>
            </a:r>
            <a:endParaRPr lang="en-US" sz="1350" dirty="0"/>
          </a:p>
        </p:txBody>
      </p:sp>
      <p:sp>
        <p:nvSpPr>
          <p:cNvPr id="9" name="Text 7"/>
          <p:cNvSpPr/>
          <p:nvPr/>
        </p:nvSpPr>
        <p:spPr>
          <a:xfrm>
            <a:off x="-499201" y="4070066"/>
            <a:ext cx="2599134" cy="467841"/>
          </a:xfrm>
          <a:prstGeom prst="rect">
            <a:avLst/>
          </a:prstGeom>
          <a:noFill/>
          <a:ln/>
        </p:spPr>
        <p:txBody>
          <a:bodyPr wrap="none" lIns="0" tIns="0" rIns="0" bIns="0" rtlCol="0" anchor="t"/>
          <a:lstStyle/>
          <a:p>
            <a:pPr marL="0" indent="0" algn="ctr">
              <a:lnSpc>
                <a:spcPct val="83000"/>
              </a:lnSpc>
              <a:buNone/>
            </a:pPr>
            <a:r>
              <a:rPr lang="en-US" sz="3650" b="1" dirty="0">
                <a:solidFill>
                  <a:srgbClr val="333F70"/>
                </a:solidFill>
                <a:latin typeface="Unbounded Bold" pitchFamily="34" charset="0"/>
                <a:ea typeface="Unbounded Bold" pitchFamily="34" charset="-122"/>
                <a:cs typeface="Unbounded Bold" pitchFamily="34" charset="-120"/>
              </a:rPr>
              <a:t>100</a:t>
            </a:r>
            <a:endParaRPr lang="en-US" sz="3650" dirty="0"/>
          </a:p>
        </p:txBody>
      </p:sp>
      <p:sp>
        <p:nvSpPr>
          <p:cNvPr id="10" name="Text 8"/>
          <p:cNvSpPr/>
          <p:nvPr/>
        </p:nvSpPr>
        <p:spPr>
          <a:xfrm>
            <a:off x="0" y="4666351"/>
            <a:ext cx="1772022" cy="221456"/>
          </a:xfrm>
          <a:prstGeom prst="rect">
            <a:avLst/>
          </a:prstGeom>
          <a:noFill/>
          <a:ln/>
        </p:spPr>
        <p:txBody>
          <a:bodyPr wrap="none" lIns="0" tIns="0" rIns="0" bIns="0" rtlCol="0" anchor="t"/>
          <a:lstStyle/>
          <a:p>
            <a:pPr marL="0" indent="0" algn="ctr">
              <a:lnSpc>
                <a:spcPct val="104000"/>
              </a:lnSpc>
              <a:buNone/>
            </a:pPr>
            <a:r>
              <a:rPr lang="en-US" sz="1350" b="1" dirty="0">
                <a:solidFill>
                  <a:srgbClr val="333F70"/>
                </a:solidFill>
                <a:latin typeface="Unbounded Bold" pitchFamily="34" charset="0"/>
                <a:ea typeface="Unbounded Bold" pitchFamily="34" charset="-122"/>
                <a:cs typeface="Unbounded Bold" pitchFamily="34" charset="-120"/>
              </a:rPr>
              <a:t>CCCD thật</a:t>
            </a:r>
            <a:endParaRPr lang="en-US" sz="1350" dirty="0"/>
          </a:p>
        </p:txBody>
      </p:sp>
      <p:sp>
        <p:nvSpPr>
          <p:cNvPr id="11" name="Shape 9"/>
          <p:cNvSpPr/>
          <p:nvPr/>
        </p:nvSpPr>
        <p:spPr>
          <a:xfrm>
            <a:off x="243507" y="1279101"/>
            <a:ext cx="8151763" cy="701672"/>
          </a:xfrm>
          <a:prstGeom prst="roundRect">
            <a:avLst>
              <a:gd name="adj" fmla="val 7638"/>
            </a:avLst>
          </a:prstGeom>
          <a:solidFill>
            <a:srgbClr val="FCF2B5"/>
          </a:solidFill>
          <a:ln/>
        </p:spPr>
      </p:sp>
      <p:pic>
        <p:nvPicPr>
          <p:cNvPr id="12" name="Image 0" descr="preencoded.png"/>
          <p:cNvPicPr>
            <a:picLocks noChangeAspect="1"/>
          </p:cNvPicPr>
          <p:nvPr/>
        </p:nvPicPr>
        <p:blipFill>
          <a:blip r:embed="rId3"/>
          <a:stretch>
            <a:fillRect/>
          </a:stretch>
        </p:blipFill>
        <p:spPr>
          <a:xfrm>
            <a:off x="265773" y="1359842"/>
            <a:ext cx="177180" cy="141759"/>
          </a:xfrm>
          <a:prstGeom prst="rect">
            <a:avLst/>
          </a:prstGeom>
        </p:spPr>
      </p:pic>
      <p:sp>
        <p:nvSpPr>
          <p:cNvPr id="13" name="Text 10"/>
          <p:cNvSpPr/>
          <p:nvPr/>
        </p:nvSpPr>
        <p:spPr>
          <a:xfrm>
            <a:off x="496120" y="1343278"/>
            <a:ext cx="8010004" cy="2470517"/>
          </a:xfrm>
          <a:prstGeom prst="rect">
            <a:avLst/>
          </a:prstGeom>
          <a:noFill/>
          <a:ln/>
        </p:spPr>
        <p:txBody>
          <a:bodyPr wrap="square" lIns="0" tIns="0" rIns="0" bIns="0" rtlCol="0" anchor="t">
            <a:noAutofit/>
          </a:bodyPr>
          <a:lstStyle/>
          <a:p>
            <a:pPr marL="0" indent="0" algn="l">
              <a:lnSpc>
                <a:spcPct val="133000"/>
              </a:lnSpc>
              <a:buNone/>
            </a:pPr>
            <a:r>
              <a:rPr lang="en-US" sz="1500" dirty="0">
                <a:solidFill>
                  <a:srgbClr val="000000"/>
                </a:solidFill>
                <a:latin typeface="Times New Roman" panose="02020603050405020304" pitchFamily="18" charset="0"/>
                <a:ea typeface="Open Sans" pitchFamily="34" charset="-122"/>
                <a:cs typeface="Times New Roman" panose="02020603050405020304" pitchFamily="18" charset="0"/>
              </a:rPr>
              <a:t>Nhận xét: Dữ liệu production mô phỏng có chứa đầy đủ thông tin nhạy cảm. Nếu đưa trực tiếp vào môi trường kiểm thử sẽ có nguy cơ lộ dữ liệu cá nhân.</a:t>
            </a:r>
            <a:endParaRPr lang="en-US" sz="1500" dirty="0">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BBB7CA65-95A7-33E0-99F5-E66B90F246AE}"/>
              </a:ext>
            </a:extLst>
          </p:cNvPr>
          <p:cNvPicPr>
            <a:picLocks noChangeAspect="1"/>
          </p:cNvPicPr>
          <p:nvPr/>
        </p:nvPicPr>
        <p:blipFill>
          <a:blip r:embed="rId4"/>
          <a:stretch>
            <a:fillRect/>
          </a:stretch>
        </p:blipFill>
        <p:spPr>
          <a:xfrm>
            <a:off x="8051575" y="4817751"/>
            <a:ext cx="1021584" cy="324133"/>
          </a:xfrm>
          <a:prstGeom prst="rect">
            <a:avLst/>
          </a:prstGeom>
        </p:spPr>
      </p:pic>
      <p:pic>
        <p:nvPicPr>
          <p:cNvPr id="25" name="Picture 24">
            <a:extLst>
              <a:ext uri="{FF2B5EF4-FFF2-40B4-BE49-F238E27FC236}">
                <a16:creationId xmlns:a16="http://schemas.microsoft.com/office/drawing/2014/main" id="{8C663CF9-B4C0-AD9D-C644-FCE3181CE570}"/>
              </a:ext>
            </a:extLst>
          </p:cNvPr>
          <p:cNvPicPr>
            <a:picLocks noChangeAspect="1"/>
          </p:cNvPicPr>
          <p:nvPr/>
        </p:nvPicPr>
        <p:blipFill>
          <a:blip r:embed="rId5"/>
          <a:stretch>
            <a:fillRect/>
          </a:stretch>
        </p:blipFill>
        <p:spPr>
          <a:xfrm>
            <a:off x="3461112" y="2005193"/>
            <a:ext cx="5682888" cy="308322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323681" y="285825"/>
            <a:ext cx="6095797" cy="402729"/>
          </a:xfrm>
          <a:prstGeom prst="rect">
            <a:avLst/>
          </a:prstGeom>
          <a:noFill/>
          <a:ln/>
        </p:spPr>
        <p:txBody>
          <a:bodyPr wrap="none" lIns="0" tIns="0" rIns="0" bIns="0" rtlCol="0" anchor="t"/>
          <a:lstStyle/>
          <a:p>
            <a:pPr marL="0" indent="0" algn="l">
              <a:lnSpc>
                <a:spcPct val="104000"/>
              </a:lnSpc>
              <a:buNone/>
            </a:pPr>
            <a:r>
              <a:rPr lang="en-US" sz="1500" b="1" dirty="0">
                <a:latin typeface="Times New Roman" panose="02020603050405020304" pitchFamily="18" charset="0"/>
                <a:ea typeface="Unbounded Bold" pitchFamily="34" charset="-122"/>
                <a:cs typeface="Times New Roman" panose="02020603050405020304" pitchFamily="18" charset="0"/>
              </a:rPr>
              <a:t>DỮ LIỆU NHẠY CẢM SAU MASKING</a:t>
            </a:r>
            <a:endParaRPr lang="en-US" sz="1500" dirty="0">
              <a:latin typeface="Times New Roman" panose="02020603050405020304" pitchFamily="18" charset="0"/>
              <a:cs typeface="Times New Roman" panose="02020603050405020304" pitchFamily="18" charset="0"/>
            </a:endParaRPr>
          </a:p>
        </p:txBody>
      </p:sp>
      <p:sp>
        <p:nvSpPr>
          <p:cNvPr id="3" name="Text 1"/>
          <p:cNvSpPr/>
          <p:nvPr/>
        </p:nvSpPr>
        <p:spPr>
          <a:xfrm>
            <a:off x="453154" y="688554"/>
            <a:ext cx="2614193" cy="886570"/>
          </a:xfrm>
          <a:prstGeom prst="rect">
            <a:avLst/>
          </a:prstGeom>
          <a:noFill/>
          <a:ln/>
        </p:spPr>
        <p:txBody>
          <a:bodyPr wrap="none" lIns="0" tIns="0" rIns="0" bIns="0" rtlCol="0" anchor="t"/>
          <a:lstStyle/>
          <a:p>
            <a:pPr marL="0" indent="0" algn="l">
              <a:lnSpc>
                <a:spcPct val="104000"/>
              </a:lnSpc>
              <a:buNone/>
            </a:pPr>
            <a:r>
              <a:rPr lang="en-US" sz="1500" b="1" dirty="0">
                <a:latin typeface="Times New Roman" panose="02020603050405020304" pitchFamily="18" charset="0"/>
                <a:ea typeface="Unbounded Bold" pitchFamily="34" charset="-122"/>
                <a:cs typeface="Times New Roman" panose="02020603050405020304" pitchFamily="18" charset="0"/>
              </a:rPr>
              <a:t>Kỹ thuật áp dụng</a:t>
            </a:r>
            <a:endParaRPr lang="en-US" sz="1500" dirty="0">
              <a:latin typeface="Times New Roman" panose="02020603050405020304" pitchFamily="18" charset="0"/>
              <a:cs typeface="Times New Roman" panose="02020603050405020304" pitchFamily="18" charset="0"/>
            </a:endParaRPr>
          </a:p>
        </p:txBody>
      </p:sp>
      <p:sp>
        <p:nvSpPr>
          <p:cNvPr id="4" name="Text 2"/>
          <p:cNvSpPr/>
          <p:nvPr/>
        </p:nvSpPr>
        <p:spPr>
          <a:xfrm>
            <a:off x="647363" y="1165254"/>
            <a:ext cx="3811155" cy="1027878"/>
          </a:xfrm>
          <a:prstGeom prst="rect">
            <a:avLst/>
          </a:prstGeom>
          <a:noFill/>
          <a:ln/>
        </p:spPr>
        <p:txBody>
          <a:bodyPr wrap="square" lIns="0" tIns="0" rIns="0" bIns="0" rtlCol="0" anchor="t">
            <a:normAutofit/>
          </a:bodyPr>
          <a:lstStyle/>
          <a:p>
            <a:pPr marL="342900" indent="-342900" algn="l">
              <a:lnSpc>
                <a:spcPct val="110000"/>
              </a:lnSpc>
              <a:buSzPct val="100000"/>
              <a:buChar char="•"/>
            </a:pPr>
            <a:r>
              <a:rPr lang="en-US" sz="1500" dirty="0">
                <a:latin typeface="Times New Roman" panose="02020603050405020304" pitchFamily="18" charset="0"/>
                <a:ea typeface="Open Sans" pitchFamily="34" charset="-122"/>
                <a:cs typeface="Times New Roman" panose="02020603050405020304" pitchFamily="18" charset="0"/>
              </a:rPr>
              <a:t>Mask Email</a:t>
            </a:r>
            <a:endParaRPr lang="en-US" sz="1500" dirty="0">
              <a:latin typeface="Times New Roman" panose="02020603050405020304" pitchFamily="18" charset="0"/>
              <a:cs typeface="Times New Roman" panose="02020603050405020304" pitchFamily="18" charset="0"/>
            </a:endParaRPr>
          </a:p>
          <a:p>
            <a:pPr marL="342900" indent="-342900" algn="l">
              <a:lnSpc>
                <a:spcPct val="110000"/>
              </a:lnSpc>
              <a:buSzPct val="100000"/>
              <a:buChar char="•"/>
            </a:pPr>
            <a:r>
              <a:rPr lang="en-US" sz="1500" dirty="0">
                <a:latin typeface="Times New Roman" panose="02020603050405020304" pitchFamily="18" charset="0"/>
                <a:ea typeface="Open Sans" pitchFamily="34" charset="-122"/>
                <a:cs typeface="Times New Roman" panose="02020603050405020304" pitchFamily="18" charset="0"/>
              </a:rPr>
              <a:t>Mask Phone</a:t>
            </a:r>
            <a:endParaRPr lang="en-US" sz="1500" dirty="0">
              <a:latin typeface="Times New Roman" panose="02020603050405020304" pitchFamily="18" charset="0"/>
              <a:cs typeface="Times New Roman" panose="02020603050405020304" pitchFamily="18" charset="0"/>
            </a:endParaRPr>
          </a:p>
          <a:p>
            <a:pPr marL="342900" indent="-342900" algn="l">
              <a:lnSpc>
                <a:spcPct val="110000"/>
              </a:lnSpc>
              <a:buSzPct val="100000"/>
              <a:buChar char="•"/>
            </a:pPr>
            <a:r>
              <a:rPr lang="en-US" sz="1500" dirty="0">
                <a:latin typeface="Times New Roman" panose="02020603050405020304" pitchFamily="18" charset="0"/>
                <a:ea typeface="Open Sans" pitchFamily="34" charset="-122"/>
                <a:cs typeface="Times New Roman" panose="02020603050405020304" pitchFamily="18" charset="0"/>
              </a:rPr>
              <a:t>Mask CCCD</a:t>
            </a:r>
            <a:endParaRPr lang="en-US" sz="1500" dirty="0">
              <a:latin typeface="Times New Roman" panose="02020603050405020304" pitchFamily="18" charset="0"/>
              <a:cs typeface="Times New Roman" panose="02020603050405020304" pitchFamily="18" charset="0"/>
            </a:endParaRPr>
          </a:p>
          <a:p>
            <a:pPr marL="342900" indent="-342900" algn="l">
              <a:lnSpc>
                <a:spcPct val="110000"/>
              </a:lnSpc>
              <a:buSzPct val="100000"/>
              <a:buChar char="•"/>
            </a:pPr>
            <a:r>
              <a:rPr lang="en-US" sz="1500" dirty="0">
                <a:latin typeface="Times New Roman" panose="02020603050405020304" pitchFamily="18" charset="0"/>
                <a:ea typeface="Open Sans" pitchFamily="34" charset="-122"/>
                <a:cs typeface="Times New Roman" panose="02020603050405020304" pitchFamily="18" charset="0"/>
              </a:rPr>
              <a:t>Ẩn danh họ tên khách hàng</a:t>
            </a:r>
            <a:endParaRPr lang="en-US" sz="1500" dirty="0">
              <a:latin typeface="Times New Roman" panose="02020603050405020304" pitchFamily="18" charset="0"/>
              <a:cs typeface="Times New Roman" panose="02020603050405020304" pitchFamily="18" charset="0"/>
            </a:endParaRPr>
          </a:p>
        </p:txBody>
      </p:sp>
      <p:sp>
        <p:nvSpPr>
          <p:cNvPr id="5" name="Text 3"/>
          <p:cNvSpPr/>
          <p:nvPr/>
        </p:nvSpPr>
        <p:spPr>
          <a:xfrm>
            <a:off x="246306" y="2339966"/>
            <a:ext cx="2759234" cy="559593"/>
          </a:xfrm>
          <a:prstGeom prst="rect">
            <a:avLst/>
          </a:prstGeom>
          <a:noFill/>
          <a:ln/>
        </p:spPr>
        <p:txBody>
          <a:bodyPr wrap="none" lIns="0" tIns="0" rIns="0" bIns="0" rtlCol="0" anchor="t"/>
          <a:lstStyle/>
          <a:p>
            <a:pPr marL="0" indent="0" algn="l">
              <a:lnSpc>
                <a:spcPct val="104000"/>
              </a:lnSpc>
              <a:buNone/>
            </a:pPr>
            <a:r>
              <a:rPr lang="en-US" sz="1500" b="1" dirty="0">
                <a:latin typeface="Times New Roman" panose="02020603050405020304" pitchFamily="18" charset="0"/>
                <a:ea typeface="Unbounded Bold" pitchFamily="34" charset="-122"/>
                <a:cs typeface="Times New Roman" panose="02020603050405020304" pitchFamily="18" charset="0"/>
              </a:rPr>
              <a:t>Kết quả sau masking</a:t>
            </a:r>
            <a:endParaRPr lang="en-US" sz="1500" dirty="0">
              <a:latin typeface="Times New Roman" panose="02020603050405020304" pitchFamily="18" charset="0"/>
              <a:cs typeface="Times New Roman" panose="02020603050405020304" pitchFamily="18" charset="0"/>
            </a:endParaRPr>
          </a:p>
        </p:txBody>
      </p:sp>
      <p:sp>
        <p:nvSpPr>
          <p:cNvPr id="6" name="Shape 4"/>
          <p:cNvSpPr/>
          <p:nvPr/>
        </p:nvSpPr>
        <p:spPr>
          <a:xfrm>
            <a:off x="552530" y="2774250"/>
            <a:ext cx="1517600" cy="486221"/>
          </a:xfrm>
          <a:prstGeom prst="roundRect">
            <a:avLst>
              <a:gd name="adj" fmla="val 8036"/>
            </a:avLst>
          </a:prstGeom>
          <a:solidFill>
            <a:srgbClr val="D6F5EE"/>
          </a:solidFill>
          <a:ln w="4763">
            <a:solidFill>
              <a:srgbClr val="BCDBD4"/>
            </a:solidFill>
            <a:prstDash val="solid"/>
          </a:ln>
        </p:spPr>
        <p:txBody>
          <a:bodyPr/>
          <a:lstStyle/>
          <a:p>
            <a:endParaRPr lang="en-US" dirty="0">
              <a:latin typeface="Times New Roman" panose="02020603050405020304" pitchFamily="18" charset="0"/>
              <a:cs typeface="Times New Roman" panose="02020603050405020304" pitchFamily="18" charset="0"/>
            </a:endParaRPr>
          </a:p>
        </p:txBody>
      </p:sp>
      <p:sp>
        <p:nvSpPr>
          <p:cNvPr id="7" name="Text 5"/>
          <p:cNvSpPr/>
          <p:nvPr/>
        </p:nvSpPr>
        <p:spPr>
          <a:xfrm>
            <a:off x="692000" y="2917479"/>
            <a:ext cx="1619535" cy="286270"/>
          </a:xfrm>
          <a:prstGeom prst="rect">
            <a:avLst/>
          </a:prstGeom>
          <a:noFill/>
          <a:ln/>
        </p:spPr>
        <p:txBody>
          <a:bodyPr wrap="none" lIns="0" tIns="0" rIns="0" bIns="0" rtlCol="0" anchor="t"/>
          <a:lstStyle/>
          <a:p>
            <a:pPr marL="0" indent="0" algn="l">
              <a:lnSpc>
                <a:spcPct val="104000"/>
              </a:lnSpc>
              <a:buNone/>
            </a:pPr>
            <a:r>
              <a:rPr lang="en-US" sz="1500" b="1" dirty="0">
                <a:latin typeface="Times New Roman" panose="02020603050405020304" pitchFamily="18" charset="0"/>
                <a:ea typeface="Unbounded Bold" pitchFamily="34" charset="-122"/>
                <a:cs typeface="Times New Roman" panose="02020603050405020304" pitchFamily="18" charset="0"/>
              </a:rPr>
              <a:t>Email thật: 0</a:t>
            </a:r>
            <a:endParaRPr lang="en-US" sz="1500" dirty="0">
              <a:latin typeface="Times New Roman" panose="02020603050405020304" pitchFamily="18" charset="0"/>
              <a:cs typeface="Times New Roman" panose="02020603050405020304" pitchFamily="18" charset="0"/>
            </a:endParaRPr>
          </a:p>
        </p:txBody>
      </p:sp>
      <p:sp>
        <p:nvSpPr>
          <p:cNvPr id="8" name="Shape 6"/>
          <p:cNvSpPr/>
          <p:nvPr/>
        </p:nvSpPr>
        <p:spPr>
          <a:xfrm>
            <a:off x="2145952" y="2782749"/>
            <a:ext cx="1695927" cy="486221"/>
          </a:xfrm>
          <a:prstGeom prst="roundRect">
            <a:avLst>
              <a:gd name="adj" fmla="val 8036"/>
            </a:avLst>
          </a:prstGeom>
          <a:solidFill>
            <a:srgbClr val="D6F5EE"/>
          </a:solidFill>
          <a:ln w="4763">
            <a:solidFill>
              <a:srgbClr val="BCDBD4"/>
            </a:solidFill>
            <a:prstDash val="solid"/>
          </a:ln>
        </p:spPr>
        <p:txBody>
          <a:bodyPr/>
          <a:lstStyle/>
          <a:p>
            <a:endParaRPr lang="en-US" sz="1500" dirty="0">
              <a:latin typeface="Times New Roman" panose="02020603050405020304" pitchFamily="18" charset="0"/>
              <a:cs typeface="Times New Roman" panose="02020603050405020304" pitchFamily="18" charset="0"/>
            </a:endParaRPr>
          </a:p>
        </p:txBody>
      </p:sp>
      <p:sp>
        <p:nvSpPr>
          <p:cNvPr id="9" name="Text 7"/>
          <p:cNvSpPr/>
          <p:nvPr/>
        </p:nvSpPr>
        <p:spPr>
          <a:xfrm>
            <a:off x="2172066" y="2931658"/>
            <a:ext cx="1812147" cy="449461"/>
          </a:xfrm>
          <a:prstGeom prst="rect">
            <a:avLst/>
          </a:prstGeom>
          <a:noFill/>
          <a:ln/>
        </p:spPr>
        <p:txBody>
          <a:bodyPr wrap="square" lIns="0" tIns="0" rIns="0" bIns="0" rtlCol="0" anchor="t">
            <a:noAutofit/>
          </a:bodyPr>
          <a:lstStyle/>
          <a:p>
            <a:pPr marL="0" indent="0" algn="l">
              <a:lnSpc>
                <a:spcPct val="104000"/>
              </a:lnSpc>
              <a:buNone/>
            </a:pPr>
            <a:r>
              <a:rPr lang="en-US" sz="1500" b="1" dirty="0">
                <a:latin typeface="Times New Roman" panose="02020603050405020304" pitchFamily="18" charset="0"/>
                <a:ea typeface="Unbounded Bold" pitchFamily="34" charset="-122"/>
                <a:cs typeface="Times New Roman" panose="02020603050405020304" pitchFamily="18" charset="0"/>
              </a:rPr>
              <a:t>Số điện thoại thật: 0</a:t>
            </a:r>
            <a:endParaRPr lang="en-US" sz="1500" dirty="0">
              <a:latin typeface="Times New Roman" panose="02020603050405020304" pitchFamily="18" charset="0"/>
              <a:cs typeface="Times New Roman" panose="02020603050405020304" pitchFamily="18" charset="0"/>
            </a:endParaRPr>
          </a:p>
        </p:txBody>
      </p:sp>
      <p:sp>
        <p:nvSpPr>
          <p:cNvPr id="10" name="Shape 8"/>
          <p:cNvSpPr/>
          <p:nvPr/>
        </p:nvSpPr>
        <p:spPr>
          <a:xfrm>
            <a:off x="552530" y="3386577"/>
            <a:ext cx="1619536" cy="286270"/>
          </a:xfrm>
          <a:prstGeom prst="roundRect">
            <a:avLst>
              <a:gd name="adj" fmla="val 11463"/>
            </a:avLst>
          </a:prstGeom>
          <a:solidFill>
            <a:srgbClr val="D6F5EE"/>
          </a:solidFill>
          <a:ln w="4763">
            <a:solidFill>
              <a:srgbClr val="BCDBD4"/>
            </a:solidFill>
            <a:prstDash val="solid"/>
          </a:ln>
        </p:spPr>
        <p:txBody>
          <a:bodyPr/>
          <a:lstStyle/>
          <a:p>
            <a:endParaRPr lang="en-US" sz="1500" dirty="0">
              <a:latin typeface="Times New Roman" panose="02020603050405020304" pitchFamily="18" charset="0"/>
              <a:cs typeface="Times New Roman" panose="02020603050405020304" pitchFamily="18" charset="0"/>
            </a:endParaRPr>
          </a:p>
        </p:txBody>
      </p:sp>
      <p:sp>
        <p:nvSpPr>
          <p:cNvPr id="11" name="Text 9"/>
          <p:cNvSpPr/>
          <p:nvPr/>
        </p:nvSpPr>
        <p:spPr>
          <a:xfrm>
            <a:off x="692000" y="3451798"/>
            <a:ext cx="1619535" cy="132979"/>
          </a:xfrm>
          <a:prstGeom prst="rect">
            <a:avLst/>
          </a:prstGeom>
          <a:noFill/>
          <a:ln/>
        </p:spPr>
        <p:txBody>
          <a:bodyPr wrap="none" lIns="0" tIns="0" rIns="0" bIns="0" rtlCol="0" anchor="t"/>
          <a:lstStyle/>
          <a:p>
            <a:pPr marL="0" indent="0" algn="l">
              <a:lnSpc>
                <a:spcPct val="104000"/>
              </a:lnSpc>
              <a:buNone/>
            </a:pPr>
            <a:r>
              <a:rPr lang="en-US" sz="1500" b="1" dirty="0">
                <a:latin typeface="Times New Roman" panose="02020603050405020304" pitchFamily="18" charset="0"/>
                <a:ea typeface="Unbounded Bold" pitchFamily="34" charset="-122"/>
                <a:cs typeface="Times New Roman" panose="02020603050405020304" pitchFamily="18" charset="0"/>
              </a:rPr>
              <a:t>CCCD thật: 0</a:t>
            </a:r>
            <a:endParaRPr lang="en-US" sz="1500" dirty="0">
              <a:latin typeface="Times New Roman" panose="02020603050405020304" pitchFamily="18" charset="0"/>
              <a:cs typeface="Times New Roman" panose="02020603050405020304" pitchFamily="18" charset="0"/>
            </a:endParaRPr>
          </a:p>
        </p:txBody>
      </p:sp>
      <p:sp>
        <p:nvSpPr>
          <p:cNvPr id="13" name="Text 10"/>
          <p:cNvSpPr/>
          <p:nvPr/>
        </p:nvSpPr>
        <p:spPr>
          <a:xfrm>
            <a:off x="178025" y="3939065"/>
            <a:ext cx="8060877" cy="266520"/>
          </a:xfrm>
          <a:prstGeom prst="rect">
            <a:avLst/>
          </a:prstGeom>
          <a:noFill/>
          <a:ln/>
        </p:spPr>
        <p:txBody>
          <a:bodyPr wrap="none" lIns="0" tIns="0" rIns="0" bIns="0" rtlCol="0" anchor="t"/>
          <a:lstStyle/>
          <a:p>
            <a:pPr marL="0" indent="0" algn="l">
              <a:lnSpc>
                <a:spcPct val="110000"/>
              </a:lnSpc>
              <a:buNone/>
            </a:pPr>
            <a:r>
              <a:rPr lang="en-US" sz="1500" b="1" dirty="0">
                <a:latin typeface="Times New Roman" panose="02020603050405020304" pitchFamily="18" charset="0"/>
                <a:ea typeface="Open Sans" pitchFamily="34" charset="-122"/>
                <a:cs typeface="Times New Roman" panose="02020603050405020304" pitchFamily="18" charset="0"/>
              </a:rPr>
              <a:t>Ý nghĩa:</a:t>
            </a:r>
            <a:r>
              <a:rPr lang="en-US" sz="1500" dirty="0">
                <a:latin typeface="Times New Roman" panose="02020603050405020304" pitchFamily="18" charset="0"/>
                <a:ea typeface="Open Sans" pitchFamily="34" charset="-122"/>
                <a:cs typeface="Times New Roman" panose="02020603050405020304" pitchFamily="18" charset="0"/>
              </a:rPr>
              <a:t> Kết quả cho thấy </a:t>
            </a:r>
            <a:r>
              <a:rPr lang="en-US" sz="1500" b="1" dirty="0">
                <a:latin typeface="Times New Roman" panose="02020603050405020304" pitchFamily="18" charset="0"/>
                <a:ea typeface="Open Sans" pitchFamily="34" charset="-122"/>
                <a:cs typeface="Times New Roman" panose="02020603050405020304" pitchFamily="18" charset="0"/>
              </a:rPr>
              <a:t>100%</a:t>
            </a:r>
            <a:r>
              <a:rPr lang="en-US" sz="1500" dirty="0">
                <a:latin typeface="Times New Roman" panose="02020603050405020304" pitchFamily="18" charset="0"/>
                <a:ea typeface="Open Sans" pitchFamily="34" charset="-122"/>
                <a:cs typeface="Times New Roman" panose="02020603050405020304" pitchFamily="18" charset="0"/>
              </a:rPr>
              <a:t> dữ liệu nhạy cảm đã được xử lý trong phạm vi mô phỏng.</a:t>
            </a:r>
            <a:endParaRPr lang="en-US" sz="1500" dirty="0">
              <a:latin typeface="Times New Roman" panose="02020603050405020304" pitchFamily="18" charset="0"/>
              <a:cs typeface="Times New Roman" panose="02020603050405020304" pitchFamily="18" charset="0"/>
            </a:endParaRPr>
          </a:p>
        </p:txBody>
      </p:sp>
      <p:sp>
        <p:nvSpPr>
          <p:cNvPr id="14" name="Shape 11"/>
          <p:cNvSpPr/>
          <p:nvPr/>
        </p:nvSpPr>
        <p:spPr>
          <a:xfrm>
            <a:off x="178024" y="4348715"/>
            <a:ext cx="8965976" cy="778337"/>
          </a:xfrm>
          <a:prstGeom prst="roundRect">
            <a:avLst>
              <a:gd name="adj" fmla="val 9702"/>
            </a:avLst>
          </a:prstGeom>
          <a:solidFill>
            <a:srgbClr val="B6FCB8"/>
          </a:solidFill>
          <a:ln/>
        </p:spPr>
      </p:sp>
      <p:pic>
        <p:nvPicPr>
          <p:cNvPr id="15" name="Image 1" descr="preencoded.png"/>
          <p:cNvPicPr>
            <a:picLocks noChangeAspect="1"/>
          </p:cNvPicPr>
          <p:nvPr/>
        </p:nvPicPr>
        <p:blipFill>
          <a:blip r:embed="rId3"/>
          <a:stretch>
            <a:fillRect/>
          </a:stretch>
        </p:blipFill>
        <p:spPr>
          <a:xfrm>
            <a:off x="188188" y="4417446"/>
            <a:ext cx="116235" cy="93018"/>
          </a:xfrm>
          <a:prstGeom prst="rect">
            <a:avLst/>
          </a:prstGeom>
        </p:spPr>
      </p:pic>
      <p:sp>
        <p:nvSpPr>
          <p:cNvPr id="16" name="Text 12"/>
          <p:cNvSpPr/>
          <p:nvPr/>
        </p:nvSpPr>
        <p:spPr>
          <a:xfrm>
            <a:off x="453154" y="4451142"/>
            <a:ext cx="8620004" cy="481560"/>
          </a:xfrm>
          <a:prstGeom prst="rect">
            <a:avLst/>
          </a:prstGeom>
          <a:noFill/>
          <a:ln/>
        </p:spPr>
        <p:txBody>
          <a:bodyPr wrap="square" lIns="0" tIns="0" rIns="0" bIns="0" rtlCol="0" anchor="t">
            <a:noAutofit/>
          </a:bodyPr>
          <a:lstStyle/>
          <a:p>
            <a:pPr marL="0" indent="0" algn="l">
              <a:lnSpc>
                <a:spcPct val="110000"/>
              </a:lnSpc>
              <a:buNone/>
            </a:pPr>
            <a:r>
              <a:rPr lang="en-US" sz="1500" b="1" dirty="0">
                <a:latin typeface="Times New Roman" panose="02020603050405020304" pitchFamily="18" charset="0"/>
                <a:ea typeface="Open Sans" pitchFamily="34" charset="-122"/>
                <a:cs typeface="Times New Roman" panose="02020603050405020304" pitchFamily="18" charset="0"/>
              </a:rPr>
              <a:t>QA cần kiểm soát:</a:t>
            </a:r>
            <a:r>
              <a:rPr lang="en-US" sz="1500" dirty="0">
                <a:latin typeface="Times New Roman" panose="02020603050405020304" pitchFamily="18" charset="0"/>
                <a:ea typeface="Open Sans" pitchFamily="34" charset="-122"/>
                <a:cs typeface="Times New Roman" panose="02020603050405020304" pitchFamily="18" charset="0"/>
              </a:rPr>
              <a:t> Không còn PII thật trong môi trường test — Dữ liệu sau masking vẫn dùng được cho kiểm thử — Quy trình masking phải chạy trước khi import dữ liệu vào test.</a:t>
            </a:r>
            <a:endParaRPr lang="en-US" sz="1500" dirty="0">
              <a:latin typeface="Times New Roman" panose="02020603050405020304" pitchFamily="18" charset="0"/>
              <a:cs typeface="Times New Roman" panose="02020603050405020304" pitchFamily="18" charset="0"/>
            </a:endParaRPr>
          </a:p>
        </p:txBody>
      </p:sp>
      <p:pic>
        <p:nvPicPr>
          <p:cNvPr id="19" name="Picture 18">
            <a:extLst>
              <a:ext uri="{FF2B5EF4-FFF2-40B4-BE49-F238E27FC236}">
                <a16:creationId xmlns:a16="http://schemas.microsoft.com/office/drawing/2014/main" id="{FCE6B010-04E8-DC35-E297-FE1174A57292}"/>
              </a:ext>
            </a:extLst>
          </p:cNvPr>
          <p:cNvPicPr>
            <a:picLocks noChangeAspect="1"/>
          </p:cNvPicPr>
          <p:nvPr/>
        </p:nvPicPr>
        <p:blipFill>
          <a:blip r:embed="rId4"/>
          <a:stretch>
            <a:fillRect/>
          </a:stretch>
        </p:blipFill>
        <p:spPr>
          <a:xfrm>
            <a:off x="3917700" y="153749"/>
            <a:ext cx="5130261" cy="351909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411212"/>
            <a:ext cx="8151763" cy="858292"/>
          </a:xfrm>
          <a:prstGeom prst="rect">
            <a:avLst/>
          </a:prstGeom>
          <a:noFill/>
          <a:ln/>
        </p:spPr>
        <p:txBody>
          <a:bodyPr wrap="square" lIns="0" tIns="0" rIns="0" bIns="0" rtlCol="0" anchor="t">
            <a:normAutofit/>
          </a:bodyPr>
          <a:lstStyle/>
          <a:p>
            <a:pPr marL="0" indent="0" algn="l">
              <a:lnSpc>
                <a:spcPct val="104000"/>
              </a:lnSpc>
              <a:buNone/>
            </a:pPr>
            <a:r>
              <a:rPr lang="en-US" sz="1500" b="1" dirty="0">
                <a:latin typeface="Times New Roman" panose="02020603050405020304" pitchFamily="18" charset="0"/>
                <a:ea typeface="Unbounded Bold" pitchFamily="34" charset="-122"/>
                <a:cs typeface="Times New Roman" panose="02020603050405020304" pitchFamily="18" charset="0"/>
              </a:rPr>
              <a:t>CHIẾN LƯỢC QUẢN LÝ DỮ LIỆU KIỂM THỬ TỔNG THỂ</a:t>
            </a:r>
            <a:endParaRPr lang="en-US" sz="1500" dirty="0">
              <a:latin typeface="Times New Roman" panose="02020603050405020304" pitchFamily="18" charset="0"/>
              <a:cs typeface="Times New Roman" panose="02020603050405020304" pitchFamily="18" charset="0"/>
            </a:endParaRPr>
          </a:p>
        </p:txBody>
      </p:sp>
      <p:sp>
        <p:nvSpPr>
          <p:cNvPr id="3" name="Text 1"/>
          <p:cNvSpPr/>
          <p:nvPr/>
        </p:nvSpPr>
        <p:spPr>
          <a:xfrm>
            <a:off x="496119" y="1322710"/>
            <a:ext cx="2575471" cy="214536"/>
          </a:xfrm>
          <a:prstGeom prst="rect">
            <a:avLst/>
          </a:prstGeom>
          <a:noFill/>
          <a:ln/>
        </p:spPr>
        <p:txBody>
          <a:bodyPr wrap="none" lIns="0" tIns="0" rIns="0" bIns="0" rtlCol="0" anchor="t"/>
          <a:lstStyle/>
          <a:p>
            <a:pPr marL="0" indent="0" algn="l">
              <a:lnSpc>
                <a:spcPct val="104000"/>
              </a:lnSpc>
              <a:buNone/>
            </a:pPr>
            <a:r>
              <a:rPr lang="en-US" sz="1500" b="1" dirty="0">
                <a:latin typeface="Times New Roman" panose="02020603050405020304" pitchFamily="18" charset="0"/>
                <a:ea typeface="Unbounded Bold" pitchFamily="34" charset="-122"/>
                <a:cs typeface="Times New Roman" panose="02020603050405020304" pitchFamily="18" charset="0"/>
              </a:rPr>
              <a:t>Tổng hợp chiến lược</a:t>
            </a:r>
            <a:endParaRPr lang="en-US" sz="1500" dirty="0">
              <a:latin typeface="Times New Roman" panose="02020603050405020304" pitchFamily="18" charset="0"/>
              <a:cs typeface="Times New Roman" panose="02020603050405020304" pitchFamily="18" charset="0"/>
            </a:endParaRPr>
          </a:p>
        </p:txBody>
      </p:sp>
      <p:sp>
        <p:nvSpPr>
          <p:cNvPr id="4" name="Shape 2"/>
          <p:cNvSpPr/>
          <p:nvPr/>
        </p:nvSpPr>
        <p:spPr>
          <a:xfrm>
            <a:off x="496119" y="1736750"/>
            <a:ext cx="8151763" cy="1955527"/>
          </a:xfrm>
          <a:prstGeom prst="roundRect">
            <a:avLst>
              <a:gd name="adj" fmla="val 2950"/>
            </a:avLst>
          </a:prstGeom>
          <a:noFill/>
          <a:ln w="4763">
            <a:solidFill>
              <a:srgbClr val="000000">
                <a:alpha val="8000"/>
              </a:srgbClr>
            </a:solidFill>
            <a:prstDash val="solid"/>
          </a:ln>
        </p:spPr>
      </p:sp>
      <p:sp>
        <p:nvSpPr>
          <p:cNvPr id="5" name="Text 3"/>
          <p:cNvSpPr/>
          <p:nvPr/>
        </p:nvSpPr>
        <p:spPr>
          <a:xfrm>
            <a:off x="638249" y="1826047"/>
            <a:ext cx="2215753" cy="216322"/>
          </a:xfrm>
          <a:prstGeom prst="rect">
            <a:avLst/>
          </a:prstGeom>
          <a:noFill/>
          <a:ln/>
        </p:spPr>
        <p:txBody>
          <a:bodyPr wrap="none" lIns="0" tIns="0" rIns="0" bIns="0" rtlCol="0" anchor="t"/>
          <a:lstStyle/>
          <a:p>
            <a:pPr marL="0" indent="0" algn="l">
              <a:lnSpc>
                <a:spcPct val="131000"/>
              </a:lnSpc>
              <a:buNone/>
            </a:pPr>
            <a:r>
              <a:rPr lang="en-US" sz="1500" b="1" dirty="0">
                <a:latin typeface="Times New Roman" panose="02020603050405020304" pitchFamily="18" charset="0"/>
                <a:ea typeface="Open Sans" pitchFamily="34" charset="-122"/>
                <a:cs typeface="Times New Roman" panose="02020603050405020304" pitchFamily="18" charset="0"/>
              </a:rPr>
              <a:t>Chiến lược</a:t>
            </a:r>
            <a:endParaRPr lang="en-US" sz="1500" dirty="0">
              <a:latin typeface="Times New Roman" panose="02020603050405020304" pitchFamily="18" charset="0"/>
              <a:cs typeface="Times New Roman" panose="02020603050405020304" pitchFamily="18" charset="0"/>
            </a:endParaRPr>
          </a:p>
        </p:txBody>
      </p:sp>
      <p:sp>
        <p:nvSpPr>
          <p:cNvPr id="6" name="Text 4"/>
          <p:cNvSpPr/>
          <p:nvPr/>
        </p:nvSpPr>
        <p:spPr>
          <a:xfrm>
            <a:off x="2676153" y="1826047"/>
            <a:ext cx="3434730" cy="216322"/>
          </a:xfrm>
          <a:prstGeom prst="rect">
            <a:avLst/>
          </a:prstGeom>
          <a:noFill/>
          <a:ln/>
        </p:spPr>
        <p:txBody>
          <a:bodyPr wrap="none" lIns="0" tIns="0" rIns="0" bIns="0" rtlCol="0" anchor="t"/>
          <a:lstStyle/>
          <a:p>
            <a:pPr marL="0" indent="0" algn="l">
              <a:lnSpc>
                <a:spcPct val="131000"/>
              </a:lnSpc>
              <a:buNone/>
            </a:pPr>
            <a:r>
              <a:rPr lang="en-US" sz="1500" b="1" dirty="0">
                <a:latin typeface="Times New Roman" panose="02020603050405020304" pitchFamily="18" charset="0"/>
                <a:ea typeface="Open Sans" pitchFamily="34" charset="-122"/>
                <a:cs typeface="Times New Roman" panose="02020603050405020304" pitchFamily="18" charset="0"/>
              </a:rPr>
              <a:t>Mục tiêu</a:t>
            </a:r>
            <a:endParaRPr lang="en-US" sz="1500" dirty="0">
              <a:latin typeface="Times New Roman" panose="02020603050405020304" pitchFamily="18" charset="0"/>
              <a:cs typeface="Times New Roman" panose="02020603050405020304" pitchFamily="18" charset="0"/>
            </a:endParaRPr>
          </a:p>
        </p:txBody>
      </p:sp>
      <p:sp>
        <p:nvSpPr>
          <p:cNvPr id="7" name="Text 5"/>
          <p:cNvSpPr/>
          <p:nvPr/>
        </p:nvSpPr>
        <p:spPr>
          <a:xfrm>
            <a:off x="5933033" y="1826047"/>
            <a:ext cx="3029992" cy="216322"/>
          </a:xfrm>
          <a:prstGeom prst="rect">
            <a:avLst/>
          </a:prstGeom>
          <a:noFill/>
          <a:ln/>
        </p:spPr>
        <p:txBody>
          <a:bodyPr wrap="none" lIns="0" tIns="0" rIns="0" bIns="0" rtlCol="0" anchor="t"/>
          <a:lstStyle/>
          <a:p>
            <a:pPr marL="0" indent="0" algn="l">
              <a:lnSpc>
                <a:spcPct val="131000"/>
              </a:lnSpc>
              <a:buNone/>
            </a:pPr>
            <a:r>
              <a:rPr lang="en-US" sz="1500" b="1" dirty="0">
                <a:latin typeface="Times New Roman" panose="02020603050405020304" pitchFamily="18" charset="0"/>
                <a:ea typeface="Open Sans" pitchFamily="34" charset="-122"/>
                <a:cs typeface="Times New Roman" panose="02020603050405020304" pitchFamily="18" charset="0"/>
              </a:rPr>
              <a:t>QA cần kiểm soát</a:t>
            </a:r>
            <a:endParaRPr lang="en-US" sz="1500" dirty="0">
              <a:latin typeface="Times New Roman" panose="02020603050405020304" pitchFamily="18" charset="0"/>
              <a:cs typeface="Times New Roman" panose="02020603050405020304" pitchFamily="18" charset="0"/>
            </a:endParaRPr>
          </a:p>
        </p:txBody>
      </p:sp>
      <p:sp>
        <p:nvSpPr>
          <p:cNvPr id="8" name="Text 6"/>
          <p:cNvSpPr/>
          <p:nvPr/>
        </p:nvSpPr>
        <p:spPr>
          <a:xfrm>
            <a:off x="638249" y="2216200"/>
            <a:ext cx="2215753" cy="216322"/>
          </a:xfrm>
          <a:prstGeom prst="rect">
            <a:avLst/>
          </a:prstGeom>
          <a:noFill/>
          <a:ln/>
        </p:spPr>
        <p:txBody>
          <a:bodyPr wrap="none" lIns="0" tIns="0" rIns="0" bIns="0" rtlCol="0" anchor="t"/>
          <a:lstStyle/>
          <a:p>
            <a:pPr marL="0" indent="0" algn="l">
              <a:lnSpc>
                <a:spcPct val="131000"/>
              </a:lnSpc>
              <a:buNone/>
            </a:pPr>
            <a:r>
              <a:rPr lang="en-US" sz="1500" b="1" dirty="0">
                <a:latin typeface="Times New Roman" panose="02020603050405020304" pitchFamily="18" charset="0"/>
                <a:ea typeface="Open Sans" pitchFamily="34" charset="-122"/>
                <a:cs typeface="Times New Roman" panose="02020603050405020304" pitchFamily="18" charset="0"/>
              </a:rPr>
              <a:t>Seed Data</a:t>
            </a:r>
            <a:endParaRPr lang="en-US" sz="1500" dirty="0">
              <a:latin typeface="Times New Roman" panose="02020603050405020304" pitchFamily="18" charset="0"/>
              <a:cs typeface="Times New Roman" panose="02020603050405020304" pitchFamily="18" charset="0"/>
            </a:endParaRPr>
          </a:p>
        </p:txBody>
      </p:sp>
      <p:sp>
        <p:nvSpPr>
          <p:cNvPr id="9" name="Text 7"/>
          <p:cNvSpPr/>
          <p:nvPr/>
        </p:nvSpPr>
        <p:spPr>
          <a:xfrm>
            <a:off x="2676153" y="2216200"/>
            <a:ext cx="3434730" cy="216322"/>
          </a:xfrm>
          <a:prstGeom prst="rect">
            <a:avLst/>
          </a:prstGeom>
          <a:noFill/>
          <a:ln/>
        </p:spPr>
        <p:txBody>
          <a:bodyPr wrap="none" lIns="0" tIns="0" rIns="0" bIns="0" rtlCol="0" anchor="t"/>
          <a:lstStyle/>
          <a:p>
            <a:pPr marL="0" indent="0" algn="l">
              <a:lnSpc>
                <a:spcPct val="131000"/>
              </a:lnSpc>
              <a:buNone/>
            </a:pPr>
            <a:r>
              <a:rPr lang="en-US" sz="1500">
                <a:latin typeface="Times New Roman" panose="02020603050405020304" pitchFamily="18" charset="0"/>
                <a:ea typeface="Open Sans" pitchFamily="34" charset="-122"/>
                <a:cs typeface="Times New Roman" panose="02020603050405020304" pitchFamily="18" charset="0"/>
              </a:rPr>
              <a:t>Tạo dữ liệu nền ổn định</a:t>
            </a:r>
            <a:endParaRPr lang="en-US" sz="1500" dirty="0">
              <a:latin typeface="Times New Roman" panose="02020603050405020304" pitchFamily="18" charset="0"/>
              <a:cs typeface="Times New Roman" panose="02020603050405020304" pitchFamily="18" charset="0"/>
            </a:endParaRPr>
          </a:p>
        </p:txBody>
      </p:sp>
      <p:sp>
        <p:nvSpPr>
          <p:cNvPr id="10" name="Text 8"/>
          <p:cNvSpPr/>
          <p:nvPr/>
        </p:nvSpPr>
        <p:spPr>
          <a:xfrm>
            <a:off x="5933033" y="2216200"/>
            <a:ext cx="3029992" cy="216322"/>
          </a:xfrm>
          <a:prstGeom prst="rect">
            <a:avLst/>
          </a:prstGeom>
          <a:noFill/>
          <a:ln/>
        </p:spPr>
        <p:txBody>
          <a:bodyPr wrap="none" lIns="0" tIns="0" rIns="0" bIns="0" rtlCol="0" anchor="t"/>
          <a:lstStyle/>
          <a:p>
            <a:pPr marL="0" indent="0" algn="l">
              <a:lnSpc>
                <a:spcPct val="131000"/>
              </a:lnSpc>
              <a:buNone/>
            </a:pPr>
            <a:r>
              <a:rPr lang="en-US" sz="1500" dirty="0">
                <a:latin typeface="Times New Roman" panose="02020603050405020304" pitchFamily="18" charset="0"/>
                <a:ea typeface="Open Sans" pitchFamily="34" charset="-122"/>
                <a:cs typeface="Times New Roman" panose="02020603050405020304" pitchFamily="18" charset="0"/>
              </a:rPr>
              <a:t>Khả năng tái lập</a:t>
            </a:r>
            <a:endParaRPr lang="en-US" sz="1500" dirty="0">
              <a:latin typeface="Times New Roman" panose="02020603050405020304" pitchFamily="18" charset="0"/>
              <a:cs typeface="Times New Roman" panose="02020603050405020304" pitchFamily="18" charset="0"/>
            </a:endParaRPr>
          </a:p>
        </p:txBody>
      </p:sp>
      <p:sp>
        <p:nvSpPr>
          <p:cNvPr id="11" name="Text 9"/>
          <p:cNvSpPr/>
          <p:nvPr/>
        </p:nvSpPr>
        <p:spPr>
          <a:xfrm>
            <a:off x="638249" y="2606353"/>
            <a:ext cx="2215753" cy="216322"/>
          </a:xfrm>
          <a:prstGeom prst="rect">
            <a:avLst/>
          </a:prstGeom>
          <a:noFill/>
          <a:ln/>
        </p:spPr>
        <p:txBody>
          <a:bodyPr wrap="none" lIns="0" tIns="0" rIns="0" bIns="0" rtlCol="0" anchor="t"/>
          <a:lstStyle/>
          <a:p>
            <a:pPr marL="0" indent="0" algn="l">
              <a:lnSpc>
                <a:spcPct val="131000"/>
              </a:lnSpc>
              <a:buNone/>
            </a:pPr>
            <a:r>
              <a:rPr lang="en-US" sz="1500" b="1" dirty="0">
                <a:latin typeface="Times New Roman" panose="02020603050405020304" pitchFamily="18" charset="0"/>
                <a:ea typeface="Open Sans" pitchFamily="34" charset="-122"/>
                <a:cs typeface="Times New Roman" panose="02020603050405020304" pitchFamily="18" charset="0"/>
              </a:rPr>
              <a:t>Synthetic User</a:t>
            </a:r>
            <a:endParaRPr lang="en-US" sz="1500" dirty="0">
              <a:latin typeface="Times New Roman" panose="02020603050405020304" pitchFamily="18" charset="0"/>
              <a:cs typeface="Times New Roman" panose="02020603050405020304" pitchFamily="18" charset="0"/>
            </a:endParaRPr>
          </a:p>
        </p:txBody>
      </p:sp>
      <p:sp>
        <p:nvSpPr>
          <p:cNvPr id="12" name="Text 10"/>
          <p:cNvSpPr/>
          <p:nvPr/>
        </p:nvSpPr>
        <p:spPr>
          <a:xfrm>
            <a:off x="2676153" y="2606353"/>
            <a:ext cx="3434730" cy="216322"/>
          </a:xfrm>
          <a:prstGeom prst="rect">
            <a:avLst/>
          </a:prstGeom>
          <a:noFill/>
          <a:ln/>
        </p:spPr>
        <p:txBody>
          <a:bodyPr wrap="none" lIns="0" tIns="0" rIns="0" bIns="0" rtlCol="0" anchor="t"/>
          <a:lstStyle/>
          <a:p>
            <a:pPr marL="0" indent="0" algn="l">
              <a:lnSpc>
                <a:spcPct val="131000"/>
              </a:lnSpc>
              <a:buNone/>
            </a:pPr>
            <a:r>
              <a:rPr lang="en-US" sz="1500" dirty="0">
                <a:latin typeface="Times New Roman" panose="02020603050405020304" pitchFamily="18" charset="0"/>
                <a:ea typeface="Open Sans" pitchFamily="34" charset="-122"/>
                <a:cs typeface="Times New Roman" panose="02020603050405020304" pitchFamily="18" charset="0"/>
              </a:rPr>
              <a:t>Sinh user giả lập</a:t>
            </a:r>
            <a:endParaRPr lang="en-US" sz="1500" dirty="0">
              <a:latin typeface="Times New Roman" panose="02020603050405020304" pitchFamily="18" charset="0"/>
              <a:cs typeface="Times New Roman" panose="02020603050405020304" pitchFamily="18" charset="0"/>
            </a:endParaRPr>
          </a:p>
        </p:txBody>
      </p:sp>
      <p:sp>
        <p:nvSpPr>
          <p:cNvPr id="13" name="Text 11"/>
          <p:cNvSpPr/>
          <p:nvPr/>
        </p:nvSpPr>
        <p:spPr>
          <a:xfrm>
            <a:off x="5933033" y="2606353"/>
            <a:ext cx="3029992" cy="216322"/>
          </a:xfrm>
          <a:prstGeom prst="rect">
            <a:avLst/>
          </a:prstGeom>
          <a:noFill/>
          <a:ln/>
        </p:spPr>
        <p:txBody>
          <a:bodyPr wrap="none" lIns="0" tIns="0" rIns="0" bIns="0" rtlCol="0" anchor="t"/>
          <a:lstStyle/>
          <a:p>
            <a:pPr marL="0" indent="0" algn="l">
              <a:lnSpc>
                <a:spcPct val="131000"/>
              </a:lnSpc>
              <a:buNone/>
            </a:pPr>
            <a:r>
              <a:rPr lang="en-US" sz="1500" dirty="0">
                <a:latin typeface="Times New Roman" panose="02020603050405020304" pitchFamily="18" charset="0"/>
                <a:ea typeface="Open Sans" pitchFamily="34" charset="-122"/>
                <a:cs typeface="Times New Roman" panose="02020603050405020304" pitchFamily="18" charset="0"/>
              </a:rPr>
              <a:t>Không chứa PII thật</a:t>
            </a:r>
            <a:endParaRPr lang="en-US" sz="1500" dirty="0">
              <a:latin typeface="Times New Roman" panose="02020603050405020304" pitchFamily="18" charset="0"/>
              <a:cs typeface="Times New Roman" panose="02020603050405020304" pitchFamily="18" charset="0"/>
            </a:endParaRPr>
          </a:p>
        </p:txBody>
      </p:sp>
      <p:sp>
        <p:nvSpPr>
          <p:cNvPr id="14" name="Text 12"/>
          <p:cNvSpPr/>
          <p:nvPr/>
        </p:nvSpPr>
        <p:spPr>
          <a:xfrm>
            <a:off x="638249" y="2996505"/>
            <a:ext cx="2215753" cy="216322"/>
          </a:xfrm>
          <a:prstGeom prst="rect">
            <a:avLst/>
          </a:prstGeom>
          <a:noFill/>
          <a:ln/>
        </p:spPr>
        <p:txBody>
          <a:bodyPr wrap="none" lIns="0" tIns="0" rIns="0" bIns="0" rtlCol="0" anchor="t"/>
          <a:lstStyle/>
          <a:p>
            <a:pPr marL="0" indent="0" algn="l">
              <a:lnSpc>
                <a:spcPct val="131000"/>
              </a:lnSpc>
              <a:buNone/>
            </a:pPr>
            <a:r>
              <a:rPr lang="en-US" sz="1500" b="1" dirty="0">
                <a:latin typeface="Times New Roman" panose="02020603050405020304" pitchFamily="18" charset="0"/>
                <a:ea typeface="Open Sans" pitchFamily="34" charset="-122"/>
                <a:cs typeface="Times New Roman" panose="02020603050405020304" pitchFamily="18" charset="0"/>
              </a:rPr>
              <a:t>Refresh Data</a:t>
            </a:r>
            <a:endParaRPr lang="en-US" sz="1500" dirty="0">
              <a:latin typeface="Times New Roman" panose="02020603050405020304" pitchFamily="18" charset="0"/>
              <a:cs typeface="Times New Roman" panose="02020603050405020304" pitchFamily="18" charset="0"/>
            </a:endParaRPr>
          </a:p>
        </p:txBody>
      </p:sp>
      <p:sp>
        <p:nvSpPr>
          <p:cNvPr id="15" name="Text 13"/>
          <p:cNvSpPr/>
          <p:nvPr/>
        </p:nvSpPr>
        <p:spPr>
          <a:xfrm>
            <a:off x="2676153" y="2996505"/>
            <a:ext cx="3434730" cy="216322"/>
          </a:xfrm>
          <a:prstGeom prst="rect">
            <a:avLst/>
          </a:prstGeom>
          <a:noFill/>
          <a:ln/>
        </p:spPr>
        <p:txBody>
          <a:bodyPr wrap="none" lIns="0" tIns="0" rIns="0" bIns="0" rtlCol="0" anchor="t"/>
          <a:lstStyle/>
          <a:p>
            <a:pPr marL="0" indent="0" algn="l">
              <a:lnSpc>
                <a:spcPct val="131000"/>
              </a:lnSpc>
              <a:buNone/>
            </a:pPr>
            <a:r>
              <a:rPr lang="en-US" sz="1500" dirty="0">
                <a:latin typeface="Times New Roman" panose="02020603050405020304" pitchFamily="18" charset="0"/>
                <a:ea typeface="Open Sans" pitchFamily="34" charset="-122"/>
                <a:cs typeface="Times New Roman" panose="02020603050405020304" pitchFamily="18" charset="0"/>
              </a:rPr>
              <a:t>Làm mới dữ liệu test</a:t>
            </a:r>
            <a:endParaRPr lang="en-US" sz="1500" dirty="0">
              <a:latin typeface="Times New Roman" panose="02020603050405020304" pitchFamily="18" charset="0"/>
              <a:cs typeface="Times New Roman" panose="02020603050405020304" pitchFamily="18" charset="0"/>
            </a:endParaRPr>
          </a:p>
        </p:txBody>
      </p:sp>
      <p:sp>
        <p:nvSpPr>
          <p:cNvPr id="16" name="Text 14"/>
          <p:cNvSpPr/>
          <p:nvPr/>
        </p:nvSpPr>
        <p:spPr>
          <a:xfrm>
            <a:off x="5933033" y="2996505"/>
            <a:ext cx="3029992" cy="216322"/>
          </a:xfrm>
          <a:prstGeom prst="rect">
            <a:avLst/>
          </a:prstGeom>
          <a:noFill/>
          <a:ln/>
        </p:spPr>
        <p:txBody>
          <a:bodyPr wrap="none" lIns="0" tIns="0" rIns="0" bIns="0" rtlCol="0" anchor="t"/>
          <a:lstStyle/>
          <a:p>
            <a:pPr marL="0" indent="0" algn="l">
              <a:lnSpc>
                <a:spcPct val="131000"/>
              </a:lnSpc>
              <a:buNone/>
            </a:pPr>
            <a:r>
              <a:rPr lang="en-US" sz="1500" dirty="0">
                <a:latin typeface="Times New Roman" panose="02020603050405020304" pitchFamily="18" charset="0"/>
                <a:ea typeface="Open Sans" pitchFamily="34" charset="-122"/>
                <a:cs typeface="Times New Roman" panose="02020603050405020304" pitchFamily="18" charset="0"/>
              </a:rPr>
              <a:t>Toàn vẹn dữ liệu</a:t>
            </a:r>
            <a:endParaRPr lang="en-US" sz="1500" dirty="0">
              <a:latin typeface="Times New Roman" panose="02020603050405020304" pitchFamily="18" charset="0"/>
              <a:cs typeface="Times New Roman" panose="02020603050405020304" pitchFamily="18" charset="0"/>
            </a:endParaRPr>
          </a:p>
        </p:txBody>
      </p:sp>
      <p:sp>
        <p:nvSpPr>
          <p:cNvPr id="17" name="Text 15"/>
          <p:cNvSpPr/>
          <p:nvPr/>
        </p:nvSpPr>
        <p:spPr>
          <a:xfrm>
            <a:off x="638249" y="3386658"/>
            <a:ext cx="2215753" cy="216322"/>
          </a:xfrm>
          <a:prstGeom prst="rect">
            <a:avLst/>
          </a:prstGeom>
          <a:noFill/>
          <a:ln/>
        </p:spPr>
        <p:txBody>
          <a:bodyPr wrap="none" lIns="0" tIns="0" rIns="0" bIns="0" rtlCol="0" anchor="t"/>
          <a:lstStyle/>
          <a:p>
            <a:pPr marL="0" indent="0" algn="l">
              <a:lnSpc>
                <a:spcPct val="131000"/>
              </a:lnSpc>
              <a:buNone/>
            </a:pPr>
            <a:r>
              <a:rPr lang="en-US" sz="1500" b="1" dirty="0">
                <a:latin typeface="Times New Roman" panose="02020603050405020304" pitchFamily="18" charset="0"/>
                <a:ea typeface="Open Sans" pitchFamily="34" charset="-122"/>
                <a:cs typeface="Times New Roman" panose="02020603050405020304" pitchFamily="18" charset="0"/>
              </a:rPr>
              <a:t>Data Masking</a:t>
            </a:r>
            <a:endParaRPr lang="en-US" sz="1500" dirty="0">
              <a:latin typeface="Times New Roman" panose="02020603050405020304" pitchFamily="18" charset="0"/>
              <a:cs typeface="Times New Roman" panose="02020603050405020304" pitchFamily="18" charset="0"/>
            </a:endParaRPr>
          </a:p>
        </p:txBody>
      </p:sp>
      <p:sp>
        <p:nvSpPr>
          <p:cNvPr id="18" name="Text 16"/>
          <p:cNvSpPr/>
          <p:nvPr/>
        </p:nvSpPr>
        <p:spPr>
          <a:xfrm>
            <a:off x="2676153" y="3386658"/>
            <a:ext cx="3434730" cy="216322"/>
          </a:xfrm>
          <a:prstGeom prst="rect">
            <a:avLst/>
          </a:prstGeom>
          <a:noFill/>
          <a:ln/>
        </p:spPr>
        <p:txBody>
          <a:bodyPr wrap="none" lIns="0" tIns="0" rIns="0" bIns="0" rtlCol="0" anchor="t"/>
          <a:lstStyle/>
          <a:p>
            <a:pPr marL="0" indent="0" algn="l">
              <a:lnSpc>
                <a:spcPct val="131000"/>
              </a:lnSpc>
              <a:buNone/>
            </a:pPr>
            <a:r>
              <a:rPr lang="en-US" sz="1500" dirty="0">
                <a:latin typeface="Times New Roman" panose="02020603050405020304" pitchFamily="18" charset="0"/>
                <a:ea typeface="Open Sans" pitchFamily="34" charset="-122"/>
                <a:cs typeface="Times New Roman" panose="02020603050405020304" pitchFamily="18" charset="0"/>
              </a:rPr>
              <a:t>Bảo vệ dữ liệu cá nhân</a:t>
            </a:r>
            <a:endParaRPr lang="en-US" sz="1500" dirty="0">
              <a:latin typeface="Times New Roman" panose="02020603050405020304" pitchFamily="18" charset="0"/>
              <a:cs typeface="Times New Roman" panose="02020603050405020304" pitchFamily="18" charset="0"/>
            </a:endParaRPr>
          </a:p>
        </p:txBody>
      </p:sp>
      <p:sp>
        <p:nvSpPr>
          <p:cNvPr id="19" name="Text 17"/>
          <p:cNvSpPr/>
          <p:nvPr/>
        </p:nvSpPr>
        <p:spPr>
          <a:xfrm>
            <a:off x="5933033" y="3386658"/>
            <a:ext cx="3029992" cy="216322"/>
          </a:xfrm>
          <a:prstGeom prst="rect">
            <a:avLst/>
          </a:prstGeom>
          <a:noFill/>
          <a:ln/>
        </p:spPr>
        <p:txBody>
          <a:bodyPr wrap="none" lIns="0" tIns="0" rIns="0" bIns="0" rtlCol="0" anchor="t"/>
          <a:lstStyle/>
          <a:p>
            <a:pPr marL="0" indent="0" algn="l">
              <a:lnSpc>
                <a:spcPct val="131000"/>
              </a:lnSpc>
              <a:buNone/>
            </a:pPr>
            <a:r>
              <a:rPr lang="en-US" sz="1500" dirty="0">
                <a:latin typeface="Times New Roman" panose="02020603050405020304" pitchFamily="18" charset="0"/>
                <a:ea typeface="Open Sans" pitchFamily="34" charset="-122"/>
                <a:cs typeface="Times New Roman" panose="02020603050405020304" pitchFamily="18" charset="0"/>
              </a:rPr>
              <a:t>Không còn dữ liệu nhạy cảm</a:t>
            </a:r>
            <a:endParaRPr lang="en-US" sz="1500" dirty="0">
              <a:latin typeface="Times New Roman" panose="02020603050405020304" pitchFamily="18" charset="0"/>
              <a:cs typeface="Times New Roman" panose="02020603050405020304" pitchFamily="18" charset="0"/>
            </a:endParaRPr>
          </a:p>
        </p:txBody>
      </p:sp>
      <p:sp>
        <p:nvSpPr>
          <p:cNvPr id="20" name="Shape 18"/>
          <p:cNvSpPr/>
          <p:nvPr/>
        </p:nvSpPr>
        <p:spPr>
          <a:xfrm>
            <a:off x="496119" y="3841924"/>
            <a:ext cx="8151763" cy="890364"/>
          </a:xfrm>
          <a:prstGeom prst="roundRect">
            <a:avLst>
              <a:gd name="adj" fmla="val 7787"/>
            </a:avLst>
          </a:prstGeom>
          <a:solidFill>
            <a:srgbClr val="C1F1E5"/>
          </a:solidFill>
          <a:ln/>
        </p:spPr>
      </p:sp>
      <p:pic>
        <p:nvPicPr>
          <p:cNvPr id="21" name="Image 0" descr="preencoded.png"/>
          <p:cNvPicPr>
            <a:picLocks noChangeAspect="1"/>
          </p:cNvPicPr>
          <p:nvPr/>
        </p:nvPicPr>
        <p:blipFill>
          <a:blip r:embed="rId3"/>
          <a:stretch>
            <a:fillRect/>
          </a:stretch>
        </p:blipFill>
        <p:spPr>
          <a:xfrm>
            <a:off x="633413" y="4036219"/>
            <a:ext cx="171599" cy="137294"/>
          </a:xfrm>
          <a:prstGeom prst="rect">
            <a:avLst/>
          </a:prstGeom>
        </p:spPr>
      </p:pic>
      <p:sp>
        <p:nvSpPr>
          <p:cNvPr id="22" name="Text 19"/>
          <p:cNvSpPr/>
          <p:nvPr/>
        </p:nvSpPr>
        <p:spPr>
          <a:xfrm>
            <a:off x="942305" y="3995961"/>
            <a:ext cx="7568282" cy="432643"/>
          </a:xfrm>
          <a:prstGeom prst="rect">
            <a:avLst/>
          </a:prstGeom>
          <a:noFill/>
          <a:ln/>
        </p:spPr>
        <p:txBody>
          <a:bodyPr wrap="square" lIns="0" tIns="0" rIns="0" bIns="0" rtlCol="0" anchor="t">
            <a:noAutofit/>
          </a:bodyPr>
          <a:lstStyle/>
          <a:p>
            <a:pPr marL="0" indent="0" algn="l">
              <a:lnSpc>
                <a:spcPct val="131000"/>
              </a:lnSpc>
              <a:buNone/>
            </a:pPr>
            <a:r>
              <a:rPr lang="en-US" sz="1500" b="1" dirty="0">
                <a:latin typeface="Times New Roman" panose="02020603050405020304" pitchFamily="18" charset="0"/>
                <a:ea typeface="Open Sans" pitchFamily="34" charset="-122"/>
                <a:cs typeface="Times New Roman" panose="02020603050405020304" pitchFamily="18" charset="0"/>
              </a:rPr>
              <a:t>Nhận xét:</a:t>
            </a:r>
            <a:r>
              <a:rPr lang="en-US" sz="1500" dirty="0">
                <a:latin typeface="Times New Roman" panose="02020603050405020304" pitchFamily="18" charset="0"/>
                <a:ea typeface="Open Sans" pitchFamily="34" charset="-122"/>
                <a:cs typeface="Times New Roman" panose="02020603050405020304" pitchFamily="18" charset="0"/>
              </a:rPr>
              <a:t> Các chiến lược bổ trợ cho nhau, giúp môi trường kiểm thử vừa có dữ liệu đầy đủ, vừa đảm bảo an toàn và có khả năng tái lập.</a:t>
            </a:r>
            <a:endParaRPr lang="en-US" sz="1500" dirty="0">
              <a:latin typeface="Times New Roman" panose="02020603050405020304" pitchFamily="18" charset="0"/>
              <a:cs typeface="Times New Roman" panose="02020603050405020304" pitchFamily="18" charset="0"/>
            </a:endParaRPr>
          </a:p>
        </p:txBody>
      </p:sp>
      <p:pic>
        <p:nvPicPr>
          <p:cNvPr id="23" name="Picture 22">
            <a:extLst>
              <a:ext uri="{FF2B5EF4-FFF2-40B4-BE49-F238E27FC236}">
                <a16:creationId xmlns:a16="http://schemas.microsoft.com/office/drawing/2014/main" id="{297D3463-3651-00D0-4C4D-BA1AC2A4DD46}"/>
              </a:ext>
            </a:extLst>
          </p:cNvPr>
          <p:cNvPicPr>
            <a:picLocks noChangeAspect="1"/>
          </p:cNvPicPr>
          <p:nvPr/>
        </p:nvPicPr>
        <p:blipFill>
          <a:blip r:embed="rId4"/>
          <a:stretch>
            <a:fillRect/>
          </a:stretch>
        </p:blipFill>
        <p:spPr>
          <a:xfrm>
            <a:off x="8051575" y="4817751"/>
            <a:ext cx="1021584" cy="32413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74489" y="425574"/>
            <a:ext cx="5653162" cy="352946"/>
          </a:xfrm>
          <a:prstGeom prst="rect">
            <a:avLst/>
          </a:prstGeom>
          <a:noFill/>
          <a:ln/>
        </p:spPr>
        <p:txBody>
          <a:bodyPr wrap="none" lIns="0" tIns="0" rIns="0" bIns="0" rtlCol="0" anchor="t"/>
          <a:lstStyle/>
          <a:p>
            <a:pPr marL="0" indent="0" algn="l">
              <a:lnSpc>
                <a:spcPct val="104000"/>
              </a:lnSpc>
              <a:buNone/>
            </a:pPr>
            <a:r>
              <a:rPr lang="en-US" sz="1500" b="1" dirty="0">
                <a:latin typeface="Times New Roman" panose="02020603050405020304" pitchFamily="18" charset="0"/>
                <a:ea typeface="Unbounded Bold" pitchFamily="34" charset="-122"/>
                <a:cs typeface="Times New Roman" panose="02020603050405020304" pitchFamily="18" charset="0"/>
              </a:rPr>
              <a:t>KẾT LUẬN VÀ HƯỚNG PHÁT TRIỂN</a:t>
            </a:r>
            <a:endParaRPr lang="en-US" sz="1500" dirty="0">
              <a:latin typeface="Times New Roman" panose="02020603050405020304" pitchFamily="18" charset="0"/>
              <a:cs typeface="Times New Roman" panose="02020603050405020304" pitchFamily="18" charset="0"/>
            </a:endParaRPr>
          </a:p>
        </p:txBody>
      </p:sp>
      <p:sp>
        <p:nvSpPr>
          <p:cNvPr id="3" name="Text 1"/>
          <p:cNvSpPr/>
          <p:nvPr/>
        </p:nvSpPr>
        <p:spPr>
          <a:xfrm>
            <a:off x="674489" y="814462"/>
            <a:ext cx="1869281" cy="176510"/>
          </a:xfrm>
          <a:prstGeom prst="rect">
            <a:avLst/>
          </a:prstGeom>
          <a:noFill/>
          <a:ln/>
        </p:spPr>
        <p:txBody>
          <a:bodyPr wrap="none" lIns="0" tIns="0" rIns="0" bIns="0" rtlCol="0" anchor="t"/>
          <a:lstStyle/>
          <a:p>
            <a:pPr marL="0" indent="0" algn="l">
              <a:lnSpc>
                <a:spcPct val="104000"/>
              </a:lnSpc>
              <a:buNone/>
            </a:pPr>
            <a:r>
              <a:rPr lang="en-US" sz="1500" b="1" dirty="0">
                <a:latin typeface="Times New Roman" panose="02020603050405020304" pitchFamily="18" charset="0"/>
                <a:ea typeface="Unbounded Bold" pitchFamily="34" charset="-122"/>
                <a:cs typeface="Times New Roman" panose="02020603050405020304" pitchFamily="18" charset="0"/>
              </a:rPr>
              <a:t>Kết luận</a:t>
            </a:r>
            <a:endParaRPr lang="en-US" sz="1500" dirty="0">
              <a:latin typeface="Times New Roman" panose="02020603050405020304" pitchFamily="18" charset="0"/>
              <a:cs typeface="Times New Roman" panose="02020603050405020304" pitchFamily="18" charset="0"/>
            </a:endParaRPr>
          </a:p>
        </p:txBody>
      </p:sp>
      <p:sp>
        <p:nvSpPr>
          <p:cNvPr id="4" name="Text 2"/>
          <p:cNvSpPr/>
          <p:nvPr/>
        </p:nvSpPr>
        <p:spPr>
          <a:xfrm>
            <a:off x="674489" y="1125959"/>
            <a:ext cx="7794947" cy="588318"/>
          </a:xfrm>
          <a:prstGeom prst="rect">
            <a:avLst/>
          </a:prstGeom>
          <a:noFill/>
          <a:ln/>
        </p:spPr>
        <p:txBody>
          <a:bodyPr wrap="square" lIns="0" tIns="0" rIns="0" bIns="0" rtlCol="0" anchor="t">
            <a:noAutofit/>
          </a:bodyPr>
          <a:lstStyle/>
          <a:p>
            <a:pPr marL="0" indent="0" algn="l">
              <a:lnSpc>
                <a:spcPct val="120000"/>
              </a:lnSpc>
              <a:spcAft>
                <a:spcPts val="750"/>
              </a:spcAft>
              <a:buNone/>
            </a:pPr>
            <a:r>
              <a:rPr lang="en-US" sz="1500" dirty="0">
                <a:latin typeface="Times New Roman" panose="02020603050405020304" pitchFamily="18" charset="0"/>
                <a:ea typeface="Open Sans" pitchFamily="34" charset="-122"/>
                <a:cs typeface="Times New Roman" panose="02020603050405020304" pitchFamily="18" charset="0"/>
              </a:rPr>
              <a:t>Đề tài đã xây dựng được chiến lược quản lý dữ liệu kiểm thử cho ứng dụng cơ sở dữ liệu gồm Seed Data, Synthetic User, Refresh Data và Data Masking.</a:t>
            </a:r>
            <a:endParaRPr lang="en-US" sz="1500" dirty="0">
              <a:latin typeface="Times New Roman" panose="02020603050405020304" pitchFamily="18" charset="0"/>
              <a:cs typeface="Times New Roman" panose="02020603050405020304" pitchFamily="18" charset="0"/>
            </a:endParaRPr>
          </a:p>
          <a:p>
            <a:pPr marL="0" indent="0" algn="l">
              <a:lnSpc>
                <a:spcPct val="120000"/>
              </a:lnSpc>
              <a:buNone/>
            </a:pPr>
            <a:r>
              <a:rPr lang="en-US" sz="1500" dirty="0">
                <a:latin typeface="Times New Roman" panose="02020603050405020304" pitchFamily="18" charset="0"/>
                <a:ea typeface="Open Sans" pitchFamily="34" charset="-122"/>
                <a:cs typeface="Times New Roman" panose="02020603050405020304" pitchFamily="18" charset="0"/>
              </a:rPr>
              <a:t>Kết quả thực nghiệm cho thấy:</a:t>
            </a:r>
            <a:endParaRPr lang="en-US" sz="1500" dirty="0">
              <a:latin typeface="Times New Roman" panose="02020603050405020304" pitchFamily="18" charset="0"/>
              <a:cs typeface="Times New Roman" panose="02020603050405020304" pitchFamily="18" charset="0"/>
            </a:endParaRPr>
          </a:p>
        </p:txBody>
      </p:sp>
      <p:sp>
        <p:nvSpPr>
          <p:cNvPr id="5" name="Shape 3"/>
          <p:cNvSpPr/>
          <p:nvPr/>
        </p:nvSpPr>
        <p:spPr>
          <a:xfrm>
            <a:off x="674489" y="1815480"/>
            <a:ext cx="3852490" cy="628278"/>
          </a:xfrm>
          <a:prstGeom prst="roundRect">
            <a:avLst>
              <a:gd name="adj" fmla="val 7552"/>
            </a:avLst>
          </a:prstGeom>
          <a:solidFill>
            <a:srgbClr val="D6F5EE"/>
          </a:solidFill>
          <a:ln w="4763">
            <a:solidFill>
              <a:srgbClr val="BCDBD4"/>
            </a:solidFill>
            <a:prstDash val="solid"/>
          </a:ln>
        </p:spPr>
      </p:sp>
      <p:sp>
        <p:nvSpPr>
          <p:cNvPr id="6" name="Text 4"/>
          <p:cNvSpPr/>
          <p:nvPr/>
        </p:nvSpPr>
        <p:spPr>
          <a:xfrm>
            <a:off x="792212" y="1933203"/>
            <a:ext cx="1412081" cy="176510"/>
          </a:xfrm>
          <a:prstGeom prst="rect">
            <a:avLst/>
          </a:prstGeom>
          <a:noFill/>
          <a:ln/>
        </p:spPr>
        <p:txBody>
          <a:bodyPr wrap="none" lIns="0" tIns="0" rIns="0" bIns="0" rtlCol="0" anchor="t"/>
          <a:lstStyle/>
          <a:p>
            <a:pPr marL="0" indent="0" algn="l">
              <a:lnSpc>
                <a:spcPct val="104000"/>
              </a:lnSpc>
              <a:buNone/>
            </a:pPr>
            <a:r>
              <a:rPr lang="en-US" sz="1500" b="1" dirty="0">
                <a:latin typeface="Times New Roman" panose="02020603050405020304" pitchFamily="18" charset="0"/>
                <a:ea typeface="Unbounded Bold" pitchFamily="34" charset="-122"/>
                <a:cs typeface="Times New Roman" panose="02020603050405020304" pitchFamily="18" charset="0"/>
              </a:rPr>
              <a:t>Seed Data</a:t>
            </a:r>
            <a:endParaRPr lang="en-US" sz="1500" dirty="0">
              <a:latin typeface="Times New Roman" panose="02020603050405020304" pitchFamily="18" charset="0"/>
              <a:cs typeface="Times New Roman" panose="02020603050405020304" pitchFamily="18" charset="0"/>
            </a:endParaRPr>
          </a:p>
        </p:txBody>
      </p:sp>
      <p:sp>
        <p:nvSpPr>
          <p:cNvPr id="7" name="Text 5"/>
          <p:cNvSpPr/>
          <p:nvPr/>
        </p:nvSpPr>
        <p:spPr>
          <a:xfrm>
            <a:off x="792212" y="2163663"/>
            <a:ext cx="3617044" cy="162371"/>
          </a:xfrm>
          <a:prstGeom prst="rect">
            <a:avLst/>
          </a:prstGeom>
          <a:noFill/>
          <a:ln/>
        </p:spPr>
        <p:txBody>
          <a:bodyPr wrap="none" lIns="0" tIns="0" rIns="0" bIns="0" rtlCol="0" anchor="t"/>
          <a:lstStyle/>
          <a:p>
            <a:pPr marL="0" indent="0" algn="l">
              <a:lnSpc>
                <a:spcPct val="120000"/>
              </a:lnSpc>
              <a:buNone/>
            </a:pPr>
            <a:r>
              <a:rPr lang="en-US" sz="1500" dirty="0">
                <a:latin typeface="Times New Roman" panose="02020603050405020304" pitchFamily="18" charset="0"/>
                <a:ea typeface="Open Sans" pitchFamily="34" charset="-122"/>
                <a:cs typeface="Times New Roman" panose="02020603050405020304" pitchFamily="18" charset="0"/>
              </a:rPr>
              <a:t>Được tạo ổn định.</a:t>
            </a:r>
            <a:endParaRPr lang="en-US" sz="1500" dirty="0">
              <a:latin typeface="Times New Roman" panose="02020603050405020304" pitchFamily="18" charset="0"/>
              <a:cs typeface="Times New Roman" panose="02020603050405020304" pitchFamily="18" charset="0"/>
            </a:endParaRPr>
          </a:p>
        </p:txBody>
      </p:sp>
      <p:sp>
        <p:nvSpPr>
          <p:cNvPr id="8" name="Shape 6"/>
          <p:cNvSpPr/>
          <p:nvPr/>
        </p:nvSpPr>
        <p:spPr>
          <a:xfrm>
            <a:off x="4616946" y="1815480"/>
            <a:ext cx="3852490" cy="628278"/>
          </a:xfrm>
          <a:prstGeom prst="roundRect">
            <a:avLst>
              <a:gd name="adj" fmla="val 7552"/>
            </a:avLst>
          </a:prstGeom>
          <a:solidFill>
            <a:srgbClr val="D6F5EE"/>
          </a:solidFill>
          <a:ln w="4763">
            <a:solidFill>
              <a:srgbClr val="BCDBD4"/>
            </a:solidFill>
            <a:prstDash val="solid"/>
          </a:ln>
        </p:spPr>
      </p:sp>
      <p:sp>
        <p:nvSpPr>
          <p:cNvPr id="9" name="Text 7"/>
          <p:cNvSpPr/>
          <p:nvPr/>
        </p:nvSpPr>
        <p:spPr>
          <a:xfrm>
            <a:off x="4734669" y="1933203"/>
            <a:ext cx="1724620" cy="176510"/>
          </a:xfrm>
          <a:prstGeom prst="rect">
            <a:avLst/>
          </a:prstGeom>
          <a:noFill/>
          <a:ln/>
        </p:spPr>
        <p:txBody>
          <a:bodyPr wrap="none" lIns="0" tIns="0" rIns="0" bIns="0" rtlCol="0" anchor="t"/>
          <a:lstStyle/>
          <a:p>
            <a:pPr marL="0" indent="0" algn="l">
              <a:lnSpc>
                <a:spcPct val="104000"/>
              </a:lnSpc>
              <a:buNone/>
            </a:pPr>
            <a:r>
              <a:rPr lang="en-US" sz="1500" b="1" dirty="0">
                <a:latin typeface="Times New Roman" panose="02020603050405020304" pitchFamily="18" charset="0"/>
                <a:ea typeface="Unbounded Bold" pitchFamily="34" charset="-122"/>
                <a:cs typeface="Times New Roman" panose="02020603050405020304" pitchFamily="18" charset="0"/>
              </a:rPr>
              <a:t>500 Synthetic User</a:t>
            </a:r>
            <a:endParaRPr lang="en-US" sz="1500" dirty="0">
              <a:latin typeface="Times New Roman" panose="02020603050405020304" pitchFamily="18" charset="0"/>
              <a:cs typeface="Times New Roman" panose="02020603050405020304" pitchFamily="18" charset="0"/>
            </a:endParaRPr>
          </a:p>
        </p:txBody>
      </p:sp>
      <p:sp>
        <p:nvSpPr>
          <p:cNvPr id="10" name="Text 8"/>
          <p:cNvSpPr/>
          <p:nvPr/>
        </p:nvSpPr>
        <p:spPr>
          <a:xfrm>
            <a:off x="4734669" y="2163663"/>
            <a:ext cx="3617044" cy="162371"/>
          </a:xfrm>
          <a:prstGeom prst="rect">
            <a:avLst/>
          </a:prstGeom>
          <a:noFill/>
          <a:ln/>
        </p:spPr>
        <p:txBody>
          <a:bodyPr wrap="none" lIns="0" tIns="0" rIns="0" bIns="0" rtlCol="0" anchor="t"/>
          <a:lstStyle/>
          <a:p>
            <a:pPr marL="0" indent="0" algn="l">
              <a:lnSpc>
                <a:spcPct val="120000"/>
              </a:lnSpc>
              <a:buNone/>
            </a:pPr>
            <a:r>
              <a:rPr lang="en-US" sz="1500" dirty="0">
                <a:latin typeface="Times New Roman" panose="02020603050405020304" pitchFamily="18" charset="0"/>
                <a:ea typeface="Open Sans" pitchFamily="34" charset="-122"/>
                <a:cs typeface="Times New Roman" panose="02020603050405020304" pitchFamily="18" charset="0"/>
              </a:rPr>
              <a:t>Được sinh tự động.</a:t>
            </a:r>
            <a:endParaRPr lang="en-US" sz="1500" dirty="0">
              <a:latin typeface="Times New Roman" panose="02020603050405020304" pitchFamily="18" charset="0"/>
              <a:cs typeface="Times New Roman" panose="02020603050405020304" pitchFamily="18" charset="0"/>
            </a:endParaRPr>
          </a:p>
        </p:txBody>
      </p:sp>
      <p:sp>
        <p:nvSpPr>
          <p:cNvPr id="11" name="Shape 9"/>
          <p:cNvSpPr/>
          <p:nvPr/>
        </p:nvSpPr>
        <p:spPr>
          <a:xfrm>
            <a:off x="674489" y="2533724"/>
            <a:ext cx="3852490" cy="628278"/>
          </a:xfrm>
          <a:prstGeom prst="roundRect">
            <a:avLst>
              <a:gd name="adj" fmla="val 7552"/>
            </a:avLst>
          </a:prstGeom>
          <a:solidFill>
            <a:srgbClr val="D6F5EE"/>
          </a:solidFill>
          <a:ln w="4763">
            <a:solidFill>
              <a:srgbClr val="BCDBD4"/>
            </a:solidFill>
            <a:prstDash val="solid"/>
          </a:ln>
        </p:spPr>
      </p:sp>
      <p:sp>
        <p:nvSpPr>
          <p:cNvPr id="12" name="Text 10"/>
          <p:cNvSpPr/>
          <p:nvPr/>
        </p:nvSpPr>
        <p:spPr>
          <a:xfrm>
            <a:off x="792212" y="2651447"/>
            <a:ext cx="1412081" cy="176510"/>
          </a:xfrm>
          <a:prstGeom prst="rect">
            <a:avLst/>
          </a:prstGeom>
          <a:noFill/>
          <a:ln/>
        </p:spPr>
        <p:txBody>
          <a:bodyPr wrap="none" lIns="0" tIns="0" rIns="0" bIns="0" rtlCol="0" anchor="t"/>
          <a:lstStyle/>
          <a:p>
            <a:pPr marL="0" indent="0" algn="l">
              <a:lnSpc>
                <a:spcPct val="104000"/>
              </a:lnSpc>
              <a:buNone/>
            </a:pPr>
            <a:r>
              <a:rPr lang="en-US" sz="1500" b="1" dirty="0">
                <a:latin typeface="Times New Roman" panose="02020603050405020304" pitchFamily="18" charset="0"/>
                <a:ea typeface="Unbounded Bold" pitchFamily="34" charset="-122"/>
                <a:cs typeface="Times New Roman" panose="02020603050405020304" pitchFamily="18" charset="0"/>
              </a:rPr>
              <a:t>Refresh Data</a:t>
            </a:r>
            <a:endParaRPr lang="en-US" sz="1500" dirty="0">
              <a:latin typeface="Times New Roman" panose="02020603050405020304" pitchFamily="18" charset="0"/>
              <a:cs typeface="Times New Roman" panose="02020603050405020304" pitchFamily="18" charset="0"/>
            </a:endParaRPr>
          </a:p>
        </p:txBody>
      </p:sp>
      <p:sp>
        <p:nvSpPr>
          <p:cNvPr id="13" name="Text 11"/>
          <p:cNvSpPr/>
          <p:nvPr/>
        </p:nvSpPr>
        <p:spPr>
          <a:xfrm>
            <a:off x="792212" y="2881908"/>
            <a:ext cx="3617044" cy="162371"/>
          </a:xfrm>
          <a:prstGeom prst="rect">
            <a:avLst/>
          </a:prstGeom>
          <a:noFill/>
          <a:ln/>
        </p:spPr>
        <p:txBody>
          <a:bodyPr wrap="none" lIns="0" tIns="0" rIns="0" bIns="0" rtlCol="0" anchor="t"/>
          <a:lstStyle/>
          <a:p>
            <a:pPr marL="0" indent="0" algn="l">
              <a:lnSpc>
                <a:spcPct val="120000"/>
              </a:lnSpc>
              <a:buNone/>
            </a:pPr>
            <a:r>
              <a:rPr lang="en-US" sz="1500" dirty="0">
                <a:latin typeface="Times New Roman" panose="02020603050405020304" pitchFamily="18" charset="0"/>
                <a:ea typeface="Open Sans" pitchFamily="34" charset="-122"/>
                <a:cs typeface="Times New Roman" panose="02020603050405020304" pitchFamily="18" charset="0"/>
              </a:rPr>
              <a:t>Đạt 4/4 kiểm tra toàn vẹn.</a:t>
            </a:r>
            <a:endParaRPr lang="en-US" sz="1500" dirty="0">
              <a:latin typeface="Times New Roman" panose="02020603050405020304" pitchFamily="18" charset="0"/>
              <a:cs typeface="Times New Roman" panose="02020603050405020304" pitchFamily="18" charset="0"/>
            </a:endParaRPr>
          </a:p>
        </p:txBody>
      </p:sp>
      <p:sp>
        <p:nvSpPr>
          <p:cNvPr id="14" name="Shape 12"/>
          <p:cNvSpPr/>
          <p:nvPr/>
        </p:nvSpPr>
        <p:spPr>
          <a:xfrm>
            <a:off x="4616946" y="2533724"/>
            <a:ext cx="3852490" cy="628278"/>
          </a:xfrm>
          <a:prstGeom prst="roundRect">
            <a:avLst>
              <a:gd name="adj" fmla="val 7552"/>
            </a:avLst>
          </a:prstGeom>
          <a:solidFill>
            <a:srgbClr val="D6F5EE"/>
          </a:solidFill>
          <a:ln w="4763">
            <a:solidFill>
              <a:srgbClr val="BCDBD4"/>
            </a:solidFill>
            <a:prstDash val="solid"/>
          </a:ln>
        </p:spPr>
      </p:sp>
      <p:sp>
        <p:nvSpPr>
          <p:cNvPr id="15" name="Text 13"/>
          <p:cNvSpPr/>
          <p:nvPr/>
        </p:nvSpPr>
        <p:spPr>
          <a:xfrm>
            <a:off x="4734669" y="2651447"/>
            <a:ext cx="1412081" cy="176510"/>
          </a:xfrm>
          <a:prstGeom prst="rect">
            <a:avLst/>
          </a:prstGeom>
          <a:noFill/>
          <a:ln/>
        </p:spPr>
        <p:txBody>
          <a:bodyPr wrap="none" lIns="0" tIns="0" rIns="0" bIns="0" rtlCol="0" anchor="t"/>
          <a:lstStyle/>
          <a:p>
            <a:pPr marL="0" indent="0" algn="l">
              <a:lnSpc>
                <a:spcPct val="104000"/>
              </a:lnSpc>
              <a:buNone/>
            </a:pPr>
            <a:r>
              <a:rPr lang="en-US" sz="1500" b="1" dirty="0">
                <a:latin typeface="Times New Roman" panose="02020603050405020304" pitchFamily="18" charset="0"/>
                <a:ea typeface="Unbounded Bold" pitchFamily="34" charset="-122"/>
                <a:cs typeface="Times New Roman" panose="02020603050405020304" pitchFamily="18" charset="0"/>
              </a:rPr>
              <a:t>Data Masking</a:t>
            </a:r>
            <a:endParaRPr lang="en-US" sz="1500" dirty="0">
              <a:latin typeface="Times New Roman" panose="02020603050405020304" pitchFamily="18" charset="0"/>
              <a:cs typeface="Times New Roman" panose="02020603050405020304" pitchFamily="18" charset="0"/>
            </a:endParaRPr>
          </a:p>
        </p:txBody>
      </p:sp>
      <p:sp>
        <p:nvSpPr>
          <p:cNvPr id="16" name="Text 14"/>
          <p:cNvSpPr/>
          <p:nvPr/>
        </p:nvSpPr>
        <p:spPr>
          <a:xfrm>
            <a:off x="4734669" y="2881908"/>
            <a:ext cx="3617044" cy="162371"/>
          </a:xfrm>
          <a:prstGeom prst="rect">
            <a:avLst/>
          </a:prstGeom>
          <a:noFill/>
          <a:ln/>
        </p:spPr>
        <p:txBody>
          <a:bodyPr wrap="none" lIns="0" tIns="0" rIns="0" bIns="0" rtlCol="0" anchor="t"/>
          <a:lstStyle/>
          <a:p>
            <a:pPr marL="0" indent="0" algn="l">
              <a:lnSpc>
                <a:spcPct val="120000"/>
              </a:lnSpc>
              <a:buNone/>
            </a:pPr>
            <a:r>
              <a:rPr lang="en-US" sz="1500" dirty="0">
                <a:latin typeface="Times New Roman" panose="02020603050405020304" pitchFamily="18" charset="0"/>
                <a:ea typeface="Open Sans" pitchFamily="34" charset="-122"/>
                <a:cs typeface="Times New Roman" panose="02020603050405020304" pitchFamily="18" charset="0"/>
              </a:rPr>
              <a:t>Dữ liệu nhạy cảm giảm từ 100 xuống 0.</a:t>
            </a:r>
            <a:endParaRPr lang="en-US" sz="1500" dirty="0">
              <a:latin typeface="Times New Roman" panose="02020603050405020304" pitchFamily="18" charset="0"/>
              <a:cs typeface="Times New Roman" panose="02020603050405020304" pitchFamily="18" charset="0"/>
            </a:endParaRPr>
          </a:p>
        </p:txBody>
      </p:sp>
      <p:sp>
        <p:nvSpPr>
          <p:cNvPr id="17" name="Text 15"/>
          <p:cNvSpPr/>
          <p:nvPr/>
        </p:nvSpPr>
        <p:spPr>
          <a:xfrm>
            <a:off x="674489" y="3296989"/>
            <a:ext cx="1964457" cy="176510"/>
          </a:xfrm>
          <a:prstGeom prst="rect">
            <a:avLst/>
          </a:prstGeom>
          <a:noFill/>
          <a:ln/>
        </p:spPr>
        <p:txBody>
          <a:bodyPr wrap="none" lIns="0" tIns="0" rIns="0" bIns="0" rtlCol="0" anchor="t"/>
          <a:lstStyle/>
          <a:p>
            <a:pPr marL="0" indent="0" algn="l">
              <a:lnSpc>
                <a:spcPct val="104000"/>
              </a:lnSpc>
              <a:buNone/>
            </a:pPr>
            <a:r>
              <a:rPr lang="en-US" sz="1500" b="1" dirty="0">
                <a:latin typeface="Times New Roman" panose="02020603050405020304" pitchFamily="18" charset="0"/>
                <a:ea typeface="Unbounded Bold" pitchFamily="34" charset="-122"/>
                <a:cs typeface="Times New Roman" panose="02020603050405020304" pitchFamily="18" charset="0"/>
              </a:rPr>
              <a:t>Hướng phát triển</a:t>
            </a:r>
            <a:endParaRPr lang="en-US" sz="1500" dirty="0">
              <a:latin typeface="Times New Roman" panose="02020603050405020304" pitchFamily="18" charset="0"/>
              <a:cs typeface="Times New Roman" panose="02020603050405020304" pitchFamily="18" charset="0"/>
            </a:endParaRPr>
          </a:p>
        </p:txBody>
      </p:sp>
      <p:sp>
        <p:nvSpPr>
          <p:cNvPr id="18" name="Text 16"/>
          <p:cNvSpPr/>
          <p:nvPr/>
        </p:nvSpPr>
        <p:spPr>
          <a:xfrm>
            <a:off x="674489" y="3608487"/>
            <a:ext cx="225921" cy="141163"/>
          </a:xfrm>
          <a:prstGeom prst="rect">
            <a:avLst/>
          </a:prstGeom>
          <a:noFill/>
          <a:ln/>
        </p:spPr>
        <p:txBody>
          <a:bodyPr wrap="none" lIns="0" tIns="0" rIns="0" bIns="0" rtlCol="0" anchor="ctr"/>
          <a:lstStyle/>
          <a:p>
            <a:pPr marL="0" indent="0" algn="l">
              <a:lnSpc>
                <a:spcPct val="100000"/>
              </a:lnSpc>
              <a:buNone/>
            </a:pPr>
            <a:r>
              <a:rPr lang="en-US" sz="1500" dirty="0">
                <a:latin typeface="Times New Roman" panose="02020603050405020304" pitchFamily="18" charset="0"/>
                <a:ea typeface="Unbounded Light" pitchFamily="34" charset="-122"/>
                <a:cs typeface="Times New Roman" panose="02020603050405020304" pitchFamily="18" charset="0"/>
              </a:rPr>
              <a:t>01</a:t>
            </a:r>
            <a:endParaRPr lang="en-US" sz="1500" dirty="0">
              <a:latin typeface="Times New Roman" panose="02020603050405020304" pitchFamily="18" charset="0"/>
              <a:cs typeface="Times New Roman" panose="02020603050405020304" pitchFamily="18" charset="0"/>
            </a:endParaRPr>
          </a:p>
        </p:txBody>
      </p:sp>
      <p:sp>
        <p:nvSpPr>
          <p:cNvPr id="19" name="Shape 17"/>
          <p:cNvSpPr/>
          <p:nvPr/>
        </p:nvSpPr>
        <p:spPr>
          <a:xfrm>
            <a:off x="674489" y="3786113"/>
            <a:ext cx="3852490" cy="14288"/>
          </a:xfrm>
          <a:prstGeom prst="rect">
            <a:avLst/>
          </a:prstGeom>
          <a:solidFill>
            <a:srgbClr val="26A688"/>
          </a:solidFill>
          <a:ln/>
        </p:spPr>
      </p:sp>
      <p:sp>
        <p:nvSpPr>
          <p:cNvPr id="20" name="Text 18"/>
          <p:cNvSpPr/>
          <p:nvPr/>
        </p:nvSpPr>
        <p:spPr>
          <a:xfrm>
            <a:off x="674489" y="3871168"/>
            <a:ext cx="3852490" cy="162371"/>
          </a:xfrm>
          <a:prstGeom prst="rect">
            <a:avLst/>
          </a:prstGeom>
          <a:noFill/>
          <a:ln/>
        </p:spPr>
        <p:txBody>
          <a:bodyPr wrap="none" lIns="0" tIns="0" rIns="0" bIns="0" rtlCol="0" anchor="t"/>
          <a:lstStyle/>
          <a:p>
            <a:pPr marL="0" indent="0" algn="l">
              <a:lnSpc>
                <a:spcPct val="120000"/>
              </a:lnSpc>
              <a:buNone/>
            </a:pPr>
            <a:r>
              <a:rPr lang="en-US" sz="1500" dirty="0">
                <a:latin typeface="Times New Roman" panose="02020603050405020304" pitchFamily="18" charset="0"/>
                <a:ea typeface="Open Sans" pitchFamily="34" charset="-122"/>
                <a:cs typeface="Times New Roman" panose="02020603050405020304" pitchFamily="18" charset="0"/>
              </a:rPr>
              <a:t>Mở rộng quy mô dữ liệu lớn hơn.</a:t>
            </a:r>
            <a:endParaRPr lang="en-US" sz="1500" dirty="0">
              <a:latin typeface="Times New Roman" panose="02020603050405020304" pitchFamily="18" charset="0"/>
              <a:cs typeface="Times New Roman" panose="02020603050405020304" pitchFamily="18" charset="0"/>
            </a:endParaRPr>
          </a:p>
        </p:txBody>
      </p:sp>
      <p:sp>
        <p:nvSpPr>
          <p:cNvPr id="21" name="Text 19"/>
          <p:cNvSpPr/>
          <p:nvPr/>
        </p:nvSpPr>
        <p:spPr>
          <a:xfrm>
            <a:off x="4616946" y="3608487"/>
            <a:ext cx="225921" cy="141163"/>
          </a:xfrm>
          <a:prstGeom prst="rect">
            <a:avLst/>
          </a:prstGeom>
          <a:noFill/>
          <a:ln/>
        </p:spPr>
        <p:txBody>
          <a:bodyPr wrap="none" lIns="0" tIns="0" rIns="0" bIns="0" rtlCol="0" anchor="ctr"/>
          <a:lstStyle/>
          <a:p>
            <a:pPr marL="0" indent="0" algn="l">
              <a:lnSpc>
                <a:spcPct val="100000"/>
              </a:lnSpc>
              <a:buNone/>
            </a:pPr>
            <a:r>
              <a:rPr lang="en-US" sz="1500" dirty="0">
                <a:latin typeface="Times New Roman" panose="02020603050405020304" pitchFamily="18" charset="0"/>
                <a:ea typeface="Unbounded Light" pitchFamily="34" charset="-122"/>
                <a:cs typeface="Times New Roman" panose="02020603050405020304" pitchFamily="18" charset="0"/>
              </a:rPr>
              <a:t>02</a:t>
            </a:r>
            <a:endParaRPr lang="en-US" sz="1500" dirty="0">
              <a:latin typeface="Times New Roman" panose="02020603050405020304" pitchFamily="18" charset="0"/>
              <a:cs typeface="Times New Roman" panose="02020603050405020304" pitchFamily="18" charset="0"/>
            </a:endParaRPr>
          </a:p>
        </p:txBody>
      </p:sp>
      <p:sp>
        <p:nvSpPr>
          <p:cNvPr id="22" name="Shape 20"/>
          <p:cNvSpPr/>
          <p:nvPr/>
        </p:nvSpPr>
        <p:spPr>
          <a:xfrm>
            <a:off x="4616946" y="3786113"/>
            <a:ext cx="3852490" cy="14288"/>
          </a:xfrm>
          <a:prstGeom prst="rect">
            <a:avLst/>
          </a:prstGeom>
          <a:solidFill>
            <a:srgbClr val="26A688"/>
          </a:solidFill>
          <a:ln/>
        </p:spPr>
      </p:sp>
      <p:sp>
        <p:nvSpPr>
          <p:cNvPr id="23" name="Text 21"/>
          <p:cNvSpPr/>
          <p:nvPr/>
        </p:nvSpPr>
        <p:spPr>
          <a:xfrm>
            <a:off x="4616946" y="3871168"/>
            <a:ext cx="3852490" cy="162371"/>
          </a:xfrm>
          <a:prstGeom prst="rect">
            <a:avLst/>
          </a:prstGeom>
          <a:noFill/>
          <a:ln/>
        </p:spPr>
        <p:txBody>
          <a:bodyPr wrap="none" lIns="0" tIns="0" rIns="0" bIns="0" rtlCol="0" anchor="t"/>
          <a:lstStyle/>
          <a:p>
            <a:pPr marL="0" indent="0" algn="l">
              <a:lnSpc>
                <a:spcPct val="120000"/>
              </a:lnSpc>
              <a:buNone/>
            </a:pPr>
            <a:r>
              <a:rPr lang="en-US" sz="1500" dirty="0">
                <a:latin typeface="Times New Roman" panose="02020603050405020304" pitchFamily="18" charset="0"/>
                <a:ea typeface="Open Sans" pitchFamily="34" charset="-122"/>
                <a:cs typeface="Times New Roman" panose="02020603050405020304" pitchFamily="18" charset="0"/>
              </a:rPr>
              <a:t>Bổ sung nhiều bảng nghiệp vụ hơn.</a:t>
            </a:r>
            <a:endParaRPr lang="en-US" sz="1500" dirty="0">
              <a:latin typeface="Times New Roman" panose="02020603050405020304" pitchFamily="18" charset="0"/>
              <a:cs typeface="Times New Roman" panose="02020603050405020304" pitchFamily="18" charset="0"/>
            </a:endParaRPr>
          </a:p>
        </p:txBody>
      </p:sp>
      <p:sp>
        <p:nvSpPr>
          <p:cNvPr id="24" name="Text 22"/>
          <p:cNvSpPr/>
          <p:nvPr/>
        </p:nvSpPr>
        <p:spPr>
          <a:xfrm>
            <a:off x="674489" y="4208190"/>
            <a:ext cx="225921" cy="141163"/>
          </a:xfrm>
          <a:prstGeom prst="rect">
            <a:avLst/>
          </a:prstGeom>
          <a:noFill/>
          <a:ln/>
        </p:spPr>
        <p:txBody>
          <a:bodyPr wrap="none" lIns="0" tIns="0" rIns="0" bIns="0" rtlCol="0" anchor="ctr"/>
          <a:lstStyle/>
          <a:p>
            <a:pPr marL="0" indent="0" algn="l">
              <a:lnSpc>
                <a:spcPct val="100000"/>
              </a:lnSpc>
              <a:buNone/>
            </a:pPr>
            <a:r>
              <a:rPr lang="en-US" sz="1500" dirty="0">
                <a:latin typeface="Times New Roman" panose="02020603050405020304" pitchFamily="18" charset="0"/>
                <a:ea typeface="Unbounded Light" pitchFamily="34" charset="-122"/>
                <a:cs typeface="Times New Roman" panose="02020603050405020304" pitchFamily="18" charset="0"/>
              </a:rPr>
              <a:t>03</a:t>
            </a:r>
            <a:endParaRPr lang="en-US" sz="1500" dirty="0">
              <a:latin typeface="Times New Roman" panose="02020603050405020304" pitchFamily="18" charset="0"/>
              <a:cs typeface="Times New Roman" panose="02020603050405020304" pitchFamily="18" charset="0"/>
            </a:endParaRPr>
          </a:p>
        </p:txBody>
      </p:sp>
      <p:sp>
        <p:nvSpPr>
          <p:cNvPr id="25" name="Shape 23"/>
          <p:cNvSpPr/>
          <p:nvPr/>
        </p:nvSpPr>
        <p:spPr>
          <a:xfrm>
            <a:off x="674489" y="4385816"/>
            <a:ext cx="3852490" cy="14288"/>
          </a:xfrm>
          <a:prstGeom prst="rect">
            <a:avLst/>
          </a:prstGeom>
          <a:solidFill>
            <a:srgbClr val="26A688"/>
          </a:solidFill>
          <a:ln/>
        </p:spPr>
      </p:sp>
      <p:sp>
        <p:nvSpPr>
          <p:cNvPr id="26" name="Text 24"/>
          <p:cNvSpPr/>
          <p:nvPr/>
        </p:nvSpPr>
        <p:spPr>
          <a:xfrm>
            <a:off x="674489" y="4470871"/>
            <a:ext cx="3852490" cy="162371"/>
          </a:xfrm>
          <a:prstGeom prst="rect">
            <a:avLst/>
          </a:prstGeom>
          <a:noFill/>
          <a:ln/>
        </p:spPr>
        <p:txBody>
          <a:bodyPr wrap="none" lIns="0" tIns="0" rIns="0" bIns="0" rtlCol="0" anchor="t"/>
          <a:lstStyle/>
          <a:p>
            <a:pPr marL="0" indent="0" algn="l">
              <a:lnSpc>
                <a:spcPct val="120000"/>
              </a:lnSpc>
              <a:buNone/>
            </a:pPr>
            <a:r>
              <a:rPr lang="en-US" sz="1500" dirty="0">
                <a:latin typeface="Times New Roman" panose="02020603050405020304" pitchFamily="18" charset="0"/>
                <a:ea typeface="Open Sans" pitchFamily="34" charset="-122"/>
                <a:cs typeface="Times New Roman" panose="02020603050405020304" pitchFamily="18" charset="0"/>
              </a:rPr>
              <a:t>Áp dụng Pseudonymization, HMAC </a:t>
            </a:r>
            <a:endParaRPr lang="vi-VN" sz="1500" dirty="0">
              <a:latin typeface="Times New Roman" panose="02020603050405020304" pitchFamily="18" charset="0"/>
              <a:ea typeface="Open Sans" pitchFamily="34" charset="-122"/>
              <a:cs typeface="Times New Roman" panose="02020603050405020304" pitchFamily="18" charset="0"/>
            </a:endParaRPr>
          </a:p>
          <a:p>
            <a:pPr marL="0" indent="0" algn="l">
              <a:lnSpc>
                <a:spcPct val="120000"/>
              </a:lnSpc>
              <a:buNone/>
            </a:pPr>
            <a:r>
              <a:rPr lang="en-US" sz="1500" dirty="0" err="1">
                <a:latin typeface="Times New Roman" panose="02020603050405020304" pitchFamily="18" charset="0"/>
                <a:ea typeface="Open Sans" pitchFamily="34" charset="-122"/>
                <a:cs typeface="Times New Roman" panose="02020603050405020304" pitchFamily="18" charset="0"/>
              </a:rPr>
              <a:t>hoặc</a:t>
            </a:r>
            <a:r>
              <a:rPr lang="en-US" sz="1500" dirty="0">
                <a:latin typeface="Times New Roman" panose="02020603050405020304" pitchFamily="18" charset="0"/>
                <a:ea typeface="Open Sans" pitchFamily="34" charset="-122"/>
                <a:cs typeface="Times New Roman" panose="02020603050405020304" pitchFamily="18" charset="0"/>
              </a:rPr>
              <a:t> Tokenization.</a:t>
            </a:r>
            <a:endParaRPr lang="en-US" sz="1500" dirty="0">
              <a:latin typeface="Times New Roman" panose="02020603050405020304" pitchFamily="18" charset="0"/>
              <a:cs typeface="Times New Roman" panose="02020603050405020304" pitchFamily="18" charset="0"/>
            </a:endParaRPr>
          </a:p>
        </p:txBody>
      </p:sp>
      <p:sp>
        <p:nvSpPr>
          <p:cNvPr id="27" name="Text 25"/>
          <p:cNvSpPr/>
          <p:nvPr/>
        </p:nvSpPr>
        <p:spPr>
          <a:xfrm>
            <a:off x="4616946" y="4208190"/>
            <a:ext cx="225921" cy="141163"/>
          </a:xfrm>
          <a:prstGeom prst="rect">
            <a:avLst/>
          </a:prstGeom>
          <a:noFill/>
          <a:ln/>
        </p:spPr>
        <p:txBody>
          <a:bodyPr wrap="none" lIns="0" tIns="0" rIns="0" bIns="0" rtlCol="0" anchor="ctr"/>
          <a:lstStyle/>
          <a:p>
            <a:pPr marL="0" indent="0" algn="l">
              <a:lnSpc>
                <a:spcPct val="100000"/>
              </a:lnSpc>
              <a:buNone/>
            </a:pPr>
            <a:r>
              <a:rPr lang="en-US" sz="1500" dirty="0">
                <a:latin typeface="Times New Roman" panose="02020603050405020304" pitchFamily="18" charset="0"/>
                <a:ea typeface="Unbounded Light" pitchFamily="34" charset="-122"/>
                <a:cs typeface="Times New Roman" panose="02020603050405020304" pitchFamily="18" charset="0"/>
              </a:rPr>
              <a:t>04</a:t>
            </a:r>
            <a:endParaRPr lang="en-US" sz="1500" dirty="0">
              <a:latin typeface="Times New Roman" panose="02020603050405020304" pitchFamily="18" charset="0"/>
              <a:cs typeface="Times New Roman" panose="02020603050405020304" pitchFamily="18" charset="0"/>
            </a:endParaRPr>
          </a:p>
        </p:txBody>
      </p:sp>
      <p:sp>
        <p:nvSpPr>
          <p:cNvPr id="28" name="Shape 26"/>
          <p:cNvSpPr/>
          <p:nvPr/>
        </p:nvSpPr>
        <p:spPr>
          <a:xfrm>
            <a:off x="4616946" y="4385816"/>
            <a:ext cx="3852490" cy="14288"/>
          </a:xfrm>
          <a:prstGeom prst="rect">
            <a:avLst/>
          </a:prstGeom>
          <a:solidFill>
            <a:srgbClr val="26A688"/>
          </a:solidFill>
          <a:ln/>
        </p:spPr>
      </p:sp>
      <p:sp>
        <p:nvSpPr>
          <p:cNvPr id="29" name="Text 27"/>
          <p:cNvSpPr/>
          <p:nvPr/>
        </p:nvSpPr>
        <p:spPr>
          <a:xfrm>
            <a:off x="4616946" y="4470871"/>
            <a:ext cx="3852490" cy="162371"/>
          </a:xfrm>
          <a:prstGeom prst="rect">
            <a:avLst/>
          </a:prstGeom>
          <a:noFill/>
          <a:ln/>
        </p:spPr>
        <p:txBody>
          <a:bodyPr wrap="none" lIns="0" tIns="0" rIns="0" bIns="0" rtlCol="0" anchor="t"/>
          <a:lstStyle/>
          <a:p>
            <a:pPr marL="0" indent="0" algn="l">
              <a:lnSpc>
                <a:spcPct val="120000"/>
              </a:lnSpc>
              <a:buNone/>
            </a:pPr>
            <a:r>
              <a:rPr lang="en-US" sz="1500" dirty="0">
                <a:latin typeface="Times New Roman" panose="02020603050405020304" pitchFamily="18" charset="0"/>
                <a:ea typeface="Open Sans" pitchFamily="34" charset="-122"/>
                <a:cs typeface="Times New Roman" panose="02020603050405020304" pitchFamily="18" charset="0"/>
              </a:rPr>
              <a:t>Tích hợp Test Data Management vào DevOps và CI/CD.</a:t>
            </a:r>
            <a:endParaRPr lang="en-US" sz="1500" dirty="0">
              <a:latin typeface="Times New Roman" panose="02020603050405020304" pitchFamily="18" charset="0"/>
              <a:cs typeface="Times New Roman" panose="02020603050405020304" pitchFamily="18" charset="0"/>
            </a:endParaRPr>
          </a:p>
        </p:txBody>
      </p:sp>
      <p:pic>
        <p:nvPicPr>
          <p:cNvPr id="30" name="Picture 29">
            <a:extLst>
              <a:ext uri="{FF2B5EF4-FFF2-40B4-BE49-F238E27FC236}">
                <a16:creationId xmlns:a16="http://schemas.microsoft.com/office/drawing/2014/main" id="{D43279A8-4BEE-AD17-6D3D-B03572A33C23}"/>
              </a:ext>
            </a:extLst>
          </p:cNvPr>
          <p:cNvPicPr>
            <a:picLocks noChangeAspect="1"/>
          </p:cNvPicPr>
          <p:nvPr/>
        </p:nvPicPr>
        <p:blipFill>
          <a:blip r:embed="rId3"/>
          <a:stretch>
            <a:fillRect/>
          </a:stretch>
        </p:blipFill>
        <p:spPr>
          <a:xfrm>
            <a:off x="8051575" y="4817751"/>
            <a:ext cx="1021584" cy="32413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69</TotalTime>
  <Words>998</Words>
  <Application>Microsoft Office PowerPoint</Application>
  <PresentationFormat>On-screen Show (16:9)</PresentationFormat>
  <Paragraphs>136</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Unbounded Bold</vt:lpstr>
      <vt:lpstr>Times New Roman</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Thắng Nguyễn Tiến</dc:creator>
  <cp:lastModifiedBy>ACER</cp:lastModifiedBy>
  <cp:revision>3</cp:revision>
  <dcterms:created xsi:type="dcterms:W3CDTF">2026-06-20T14:24:23Z</dcterms:created>
  <dcterms:modified xsi:type="dcterms:W3CDTF">2026-06-20T16:05:23Z</dcterms:modified>
</cp:coreProperties>
</file>